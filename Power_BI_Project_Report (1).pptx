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Roboto Serif"/>
      <p:regular r:id="rId24"/>
      <p:bold r:id="rId25"/>
      <p:italic r:id="rId26"/>
      <p:boldItalic r:id="rId27"/>
    </p:embeddedFont>
    <p:embeddedFont>
      <p:font typeface="Libre Baskerville Medium"/>
      <p:regular r:id="rId28"/>
      <p:bold r:id="rId29"/>
      <p:italic r:id="rId30"/>
      <p:boldItalic r:id="rId31"/>
    </p:embeddedFont>
    <p:embeddedFont>
      <p:font typeface="Lato Black"/>
      <p:bold r:id="rId32"/>
      <p:boldItalic r:id="rId33"/>
    </p:embeddedFont>
    <p:embeddedFont>
      <p:font typeface="Libre Baskerville"/>
      <p:regular r:id="rId34"/>
      <p:bold r:id="rId35"/>
      <p:italic r:id="rId36"/>
      <p:boldItalic r:id="rId37"/>
    </p:embeddedFont>
    <p:embeddedFont>
      <p:font typeface="Roboto Serif SemiBold"/>
      <p:regular r:id="rId38"/>
      <p:bold r:id="rId39"/>
      <p:italic r:id="rId40"/>
      <p:boldItalic r:id="rId41"/>
    </p:embeddedFont>
    <p:embeddedFont>
      <p:font typeface="Roboto Serif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SerifSemiBold-italic.fntdata"/><Relationship Id="rId20" Type="http://schemas.openxmlformats.org/officeDocument/2006/relationships/slide" Target="slides/slide16.xml"/><Relationship Id="rId42" Type="http://schemas.openxmlformats.org/officeDocument/2006/relationships/font" Target="fonts/RobotoSerifMedium-regular.fntdata"/><Relationship Id="rId41" Type="http://schemas.openxmlformats.org/officeDocument/2006/relationships/font" Target="fonts/RobotoSerifSemiBold-boldItalic.fntdata"/><Relationship Id="rId22" Type="http://schemas.openxmlformats.org/officeDocument/2006/relationships/slide" Target="slides/slide18.xml"/><Relationship Id="rId44" Type="http://schemas.openxmlformats.org/officeDocument/2006/relationships/font" Target="fonts/RobotoSerifMedium-italic.fntdata"/><Relationship Id="rId21" Type="http://schemas.openxmlformats.org/officeDocument/2006/relationships/slide" Target="slides/slide17.xml"/><Relationship Id="rId43" Type="http://schemas.openxmlformats.org/officeDocument/2006/relationships/font" Target="fonts/RobotoSerifMedium-bold.fntdata"/><Relationship Id="rId24" Type="http://schemas.openxmlformats.org/officeDocument/2006/relationships/font" Target="fonts/RobotoSerif-regular.fntdata"/><Relationship Id="rId23" Type="http://schemas.openxmlformats.org/officeDocument/2006/relationships/slide" Target="slides/slide19.xml"/><Relationship Id="rId45" Type="http://schemas.openxmlformats.org/officeDocument/2006/relationships/font" Target="fonts/RobotoSerif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Serif-italic.fntdata"/><Relationship Id="rId25" Type="http://schemas.openxmlformats.org/officeDocument/2006/relationships/font" Target="fonts/RobotoSerif-bold.fntdata"/><Relationship Id="rId28" Type="http://schemas.openxmlformats.org/officeDocument/2006/relationships/font" Target="fonts/LibreBaskervilleMedium-regular.fntdata"/><Relationship Id="rId27" Type="http://schemas.openxmlformats.org/officeDocument/2006/relationships/font" Target="fonts/RobotoSerif-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BaskervilleMedium-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breBaskervilleMedium-boldItalic.fntdata"/><Relationship Id="rId30" Type="http://schemas.openxmlformats.org/officeDocument/2006/relationships/font" Target="fonts/LibreBaskervilleMedium-italic.fntdata"/><Relationship Id="rId11" Type="http://schemas.openxmlformats.org/officeDocument/2006/relationships/slide" Target="slides/slide7.xml"/><Relationship Id="rId33" Type="http://schemas.openxmlformats.org/officeDocument/2006/relationships/font" Target="fonts/LatoBlack-boldItalic.fntdata"/><Relationship Id="rId10" Type="http://schemas.openxmlformats.org/officeDocument/2006/relationships/slide" Target="slides/slide6.xml"/><Relationship Id="rId32" Type="http://schemas.openxmlformats.org/officeDocument/2006/relationships/font" Target="fonts/LatoBlack-bold.fntdata"/><Relationship Id="rId13" Type="http://schemas.openxmlformats.org/officeDocument/2006/relationships/slide" Target="slides/slide9.xml"/><Relationship Id="rId35" Type="http://schemas.openxmlformats.org/officeDocument/2006/relationships/font" Target="fonts/LibreBaskerville-bold.fntdata"/><Relationship Id="rId12" Type="http://schemas.openxmlformats.org/officeDocument/2006/relationships/slide" Target="slides/slide8.xml"/><Relationship Id="rId34" Type="http://schemas.openxmlformats.org/officeDocument/2006/relationships/font" Target="fonts/LibreBaskerville-regular.fntdata"/><Relationship Id="rId15" Type="http://schemas.openxmlformats.org/officeDocument/2006/relationships/slide" Target="slides/slide11.xml"/><Relationship Id="rId37" Type="http://schemas.openxmlformats.org/officeDocument/2006/relationships/font" Target="fonts/LibreBaskerville-boldItalic.fntdata"/><Relationship Id="rId14" Type="http://schemas.openxmlformats.org/officeDocument/2006/relationships/slide" Target="slides/slide10.xml"/><Relationship Id="rId36" Type="http://schemas.openxmlformats.org/officeDocument/2006/relationships/font" Target="fonts/LibreBaskerville-italic.fntdata"/><Relationship Id="rId17" Type="http://schemas.openxmlformats.org/officeDocument/2006/relationships/slide" Target="slides/slide13.xml"/><Relationship Id="rId39" Type="http://schemas.openxmlformats.org/officeDocument/2006/relationships/font" Target="fonts/RobotoSerifSemiBold-bold.fntdata"/><Relationship Id="rId16" Type="http://schemas.openxmlformats.org/officeDocument/2006/relationships/slide" Target="slides/slide12.xml"/><Relationship Id="rId38" Type="http://schemas.openxmlformats.org/officeDocument/2006/relationships/font" Target="fonts/RobotoSerifSemiBold-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ea244d955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ea244d955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cea244d955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ea244d95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ea244d955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cea244d955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ea244d955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ea244d955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cea244d955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ea244d955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ea244d955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cea244d955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ea244d955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ea244d955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cea244d955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ea244d95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ea244d955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cea244d955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ea244d955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ea244d955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cea244d955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ea244d955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ea244d955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cea244d955_0_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ea244d95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ea244d955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cea244d955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ea244d955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ea244d955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cea244d955_0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ea244d955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ea244d955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cea244d955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ea244d955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ea244d955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cea244d955_0_1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ea244d955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ea244d955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cea244d955_0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ea244d955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ea244d955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cea244d955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ea244d955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ea244d955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cea244d955_0_1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9" name="Google Shape;2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p:nvPr>
            <p:ph idx="2" type="pic"/>
          </p:nvPr>
        </p:nvSpPr>
        <p:spPr>
          <a:xfrm>
            <a:off x="5183188" y="987425"/>
            <a:ext cx="6172200" cy="4873625"/>
          </a:xfrm>
          <a:prstGeom prst="rect">
            <a:avLst/>
          </a:prstGeom>
          <a:noFill/>
          <a:ln>
            <a:noFill/>
          </a:ln>
        </p:spPr>
      </p:sp>
      <p:sp>
        <p:nvSpPr>
          <p:cNvPr id="76" name="Google Shape;76;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3"/>
          <p:cNvPicPr preferRelativeResize="0"/>
          <p:nvPr/>
        </p:nvPicPr>
        <p:blipFill rotWithShape="1">
          <a:blip r:embed="rId3">
            <a:alphaModFix/>
          </a:blip>
          <a:srcRect b="0" l="0" r="0" t="0"/>
          <a:stretch/>
        </p:blipFill>
        <p:spPr>
          <a:xfrm>
            <a:off x="592" y="-20845"/>
            <a:ext cx="12190813" cy="6694100"/>
          </a:xfrm>
          <a:prstGeom prst="rect">
            <a:avLst/>
          </a:prstGeom>
          <a:noFill/>
          <a:ln>
            <a:noFill/>
          </a:ln>
        </p:spPr>
      </p:pic>
      <p:sp>
        <p:nvSpPr>
          <p:cNvPr id="99" name="Google Shape;99;p13"/>
          <p:cNvSpPr txBox="1"/>
          <p:nvPr/>
        </p:nvSpPr>
        <p:spPr>
          <a:xfrm>
            <a:off x="2472904" y="2148327"/>
            <a:ext cx="7246200" cy="41559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t/>
            </a:r>
            <a:endParaRPr b="1" i="0" sz="24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rPr b="1" i="0" lang="en-IN" sz="2800" u="none" cap="none" strike="noStrike">
                <a:solidFill>
                  <a:srgbClr val="1155CC"/>
                </a:solidFill>
                <a:latin typeface="Arial"/>
                <a:ea typeface="Arial"/>
                <a:cs typeface="Arial"/>
                <a:sym typeface="Arial"/>
              </a:rPr>
              <a:t>Power BI Project </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IN" sz="2800" u="none" cap="none" strike="noStrike">
                <a:solidFill>
                  <a:srgbClr val="1155CC"/>
                </a:solidFill>
                <a:latin typeface="Arial"/>
                <a:ea typeface="Arial"/>
                <a:cs typeface="Arial"/>
                <a:sym typeface="Arial"/>
              </a:rPr>
              <a:t> Global EV </a:t>
            </a:r>
            <a:r>
              <a:rPr b="1" lang="en-IN" sz="2800">
                <a:solidFill>
                  <a:srgbClr val="1155CC"/>
                </a:solidFill>
              </a:rPr>
              <a:t>IEA Report </a:t>
            </a:r>
            <a:r>
              <a:rPr b="1" i="0" lang="en-IN" sz="2800" u="none" cap="none" strike="noStrike">
                <a:solidFill>
                  <a:srgbClr val="1155CC"/>
                </a:solidFill>
                <a:latin typeface="Arial"/>
                <a:ea typeface="Arial"/>
                <a:cs typeface="Arial"/>
                <a:sym typeface="Arial"/>
              </a:rPr>
              <a:t>2010 – 2024</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3200" u="none" cap="none" strike="noStrike">
              <a:solidFill>
                <a:schemeClr val="dk1"/>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None/>
            </a:pPr>
            <a:r>
              <a:rPr b="1" i="0" lang="en-IN" sz="3200" u="none" cap="none" strike="noStrike">
                <a:solidFill>
                  <a:schemeClr val="dk1"/>
                </a:solidFill>
                <a:highlight>
                  <a:srgbClr val="C0C0C0"/>
                </a:highlight>
                <a:latin typeface="Arial"/>
                <a:ea typeface="Arial"/>
                <a:cs typeface="Arial"/>
                <a:sym typeface="Arial"/>
              </a:rPr>
              <a:t>Shrutika Nair</a:t>
            </a:r>
            <a:endParaRPr/>
          </a:p>
          <a:p>
            <a:pPr indent="0" lvl="0" marL="0" marR="0" rtl="0" algn="ctr">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nvSpPr>
        <p:spPr>
          <a:xfrm>
            <a:off x="664575" y="1535700"/>
            <a:ext cx="10025100" cy="3786600"/>
          </a:xfrm>
          <a:prstGeom prst="rect">
            <a:avLst/>
          </a:prstGeom>
          <a:noFill/>
          <a:ln>
            <a:noFill/>
          </a:ln>
        </p:spPr>
        <p:txBody>
          <a:bodyPr anchorCtr="0" anchor="t" bIns="45700" lIns="91425" spcFirstLastPara="1" rIns="91425" wrap="square" tIns="45700">
            <a:spAutoFit/>
          </a:bodyPr>
          <a:lstStyle/>
          <a:p>
            <a:pPr indent="-323850" lvl="0" marL="28575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Calibri"/>
                <a:ea typeface="Calibri"/>
                <a:cs typeface="Calibri"/>
                <a:sym typeface="Calibri"/>
              </a:rPr>
              <a:t>BBA(CA), 2020, Sinhagad College of Arts, Science and commerce(Pune University)</a:t>
            </a:r>
            <a:endParaRPr b="0" i="0" sz="2000" u="none" cap="none" strike="noStrike">
              <a:solidFill>
                <a:schemeClr val="dk1"/>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1" i="0" sz="2400" u="none" cap="none" strike="noStrike">
              <a:solidFill>
                <a:schemeClr val="dk1"/>
              </a:solidFill>
              <a:latin typeface="Calibri"/>
              <a:ea typeface="Calibri"/>
              <a:cs typeface="Calibri"/>
              <a:sym typeface="Calibri"/>
            </a:endParaRPr>
          </a:p>
          <a:p>
            <a:pPr indent="-323850" lvl="0" marL="28575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Calibri"/>
                <a:ea typeface="Calibri"/>
                <a:cs typeface="Calibri"/>
                <a:sym typeface="Calibri"/>
              </a:rPr>
              <a:t>I have around 3–4 years of experience in operations and sales. Though having an experience in different domain, my role in marketing and sales, it also involved tracking records and monitoring data, which gradually developed my interest in data analysis.</a:t>
            </a:r>
            <a:endParaRPr b="1" i="0" sz="2400" u="none" cap="none" strike="noStrike">
              <a:solidFill>
                <a:schemeClr val="dk1"/>
              </a:solidFill>
              <a:latin typeface="Calibri"/>
              <a:ea typeface="Calibri"/>
              <a:cs typeface="Calibri"/>
              <a:sym typeface="Calibri"/>
            </a:endParaRPr>
          </a:p>
          <a:p>
            <a:pPr indent="-171450" lvl="0" marL="285750" marR="0" rtl="0" algn="l">
              <a:lnSpc>
                <a:spcPct val="100000"/>
              </a:lnSpc>
              <a:spcBef>
                <a:spcPts val="0"/>
              </a:spcBef>
              <a:spcAft>
                <a:spcPts val="0"/>
              </a:spcAft>
              <a:buClr>
                <a:schemeClr val="dk1"/>
              </a:buClr>
              <a:buSzPts val="1800"/>
              <a:buFont typeface="Arial"/>
              <a:buNone/>
            </a:pPr>
            <a:r>
              <a:t/>
            </a:r>
            <a:endParaRPr b="1" i="0" sz="24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1" i="0" lang="en-IN" sz="2400" u="none" cap="none" strike="noStrike">
                <a:solidFill>
                  <a:schemeClr val="dk1"/>
                </a:solidFill>
                <a:latin typeface="Calibri"/>
                <a:ea typeface="Calibri"/>
                <a:cs typeface="Calibri"/>
                <a:sym typeface="Calibri"/>
              </a:rPr>
              <a:t>Linkedin: </a:t>
            </a:r>
            <a:r>
              <a:rPr b="1" i="0" lang="en-IN" sz="2200" u="none" cap="none" strike="noStrike">
                <a:solidFill>
                  <a:schemeClr val="dk1"/>
                </a:solidFill>
                <a:latin typeface="Calibri"/>
                <a:ea typeface="Calibri"/>
                <a:cs typeface="Calibri"/>
                <a:sym typeface="Calibri"/>
              </a:rPr>
              <a:t> </a:t>
            </a:r>
            <a:r>
              <a:rPr b="0" i="0" lang="en-IN" sz="2200" u="sng" cap="none" strike="noStrike">
                <a:solidFill>
                  <a:schemeClr val="hlink"/>
                </a:solidFill>
                <a:highlight>
                  <a:srgbClr val="FFFFFF"/>
                </a:highlight>
                <a:latin typeface="Arial"/>
                <a:ea typeface="Arial"/>
                <a:cs typeface="Arial"/>
                <a:sym typeface="Arial"/>
                <a:hlinkClick r:id="rId3"/>
              </a:rPr>
              <a:t>www.linkedin.com/in/shrutika-nair-529b34239</a:t>
            </a:r>
            <a:endParaRPr b="1" i="0" sz="2200" u="none" cap="none" strike="noStrike">
              <a:solidFill>
                <a:schemeClr val="dk1"/>
              </a:solidFill>
              <a:latin typeface="Calibri"/>
              <a:ea typeface="Calibri"/>
              <a:cs typeface="Calibri"/>
              <a:sym typeface="Calibri"/>
            </a:endParaRPr>
          </a:p>
          <a:p>
            <a:pPr indent="-323850" lvl="0" marL="285750" marR="0" rtl="0" algn="l">
              <a:lnSpc>
                <a:spcPct val="100000"/>
              </a:lnSpc>
              <a:spcBef>
                <a:spcPts val="0"/>
              </a:spcBef>
              <a:spcAft>
                <a:spcPts val="0"/>
              </a:spcAft>
              <a:buClr>
                <a:schemeClr val="dk1"/>
              </a:buClr>
              <a:buSzPts val="2400"/>
              <a:buFont typeface="Calibri"/>
              <a:buChar char="•"/>
            </a:pPr>
            <a:r>
              <a:rPr b="1" i="0" lang="en-IN" sz="2400" u="none" cap="none" strike="noStrike">
                <a:solidFill>
                  <a:schemeClr val="dk1"/>
                </a:solidFill>
                <a:latin typeface="Calibri"/>
                <a:ea typeface="Calibri"/>
                <a:cs typeface="Calibri"/>
                <a:sym typeface="Calibri"/>
              </a:rPr>
              <a:t>github profile urls</a:t>
            </a:r>
            <a:endParaRPr b="1" i="0" sz="2400" u="none" cap="none" strike="noStrike">
              <a:solidFill>
                <a:schemeClr val="dk1"/>
              </a:solidFill>
              <a:latin typeface="Calibri"/>
              <a:ea typeface="Calibri"/>
              <a:cs typeface="Calibri"/>
              <a:sym typeface="Calibri"/>
            </a:endParaRPr>
          </a:p>
        </p:txBody>
      </p:sp>
      <p:sp>
        <p:nvSpPr>
          <p:cNvPr id="105" name="Google Shape;105;p14"/>
          <p:cNvSpPr txBox="1"/>
          <p:nvPr/>
        </p:nvSpPr>
        <p:spPr>
          <a:xfrm>
            <a:off x="427656" y="416554"/>
            <a:ext cx="6099463" cy="49590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IN"/>
              <a:t>About Data:</a:t>
            </a:r>
            <a:endParaRPr/>
          </a:p>
        </p:txBody>
      </p:sp>
      <p:sp>
        <p:nvSpPr>
          <p:cNvPr id="111" name="Google Shape;1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IN"/>
              <a:t>Data Source: International Energy Agency (IEA) – Global EV Outlook</a:t>
            </a:r>
            <a:endParaRPr/>
          </a:p>
          <a:p>
            <a:pPr indent="-342900" lvl="0" marL="457200" rtl="0" algn="l">
              <a:lnSpc>
                <a:spcPct val="90000"/>
              </a:lnSpc>
              <a:spcBef>
                <a:spcPts val="1000"/>
              </a:spcBef>
              <a:spcAft>
                <a:spcPts val="0"/>
              </a:spcAft>
              <a:buClr>
                <a:schemeClr val="dk1"/>
              </a:buClr>
              <a:buSzPts val="1800"/>
              <a:buChar char="•"/>
            </a:pPr>
            <a:r>
              <a:rPr lang="en-IN" sz="2000">
                <a:latin typeface="Arial"/>
                <a:ea typeface="Arial"/>
                <a:cs typeface="Arial"/>
                <a:sym typeface="Arial"/>
              </a:rPr>
              <a:t>It is a global organization that provides data, research, and policy advice on energy, that includes electric vehicles, renewable energy, oil, gas, and climate policies.</a:t>
            </a:r>
            <a:endParaRPr/>
          </a:p>
          <a:p>
            <a:pPr indent="0" lvl="0" marL="114300" rtl="0" algn="l">
              <a:lnSpc>
                <a:spcPct val="90000"/>
              </a:lnSpc>
              <a:spcBef>
                <a:spcPts val="1000"/>
              </a:spcBef>
              <a:spcAft>
                <a:spcPts val="0"/>
              </a:spcAft>
              <a:buSzPts val="1800"/>
              <a:buNone/>
            </a:pPr>
            <a:r>
              <a:rPr lang="en-IN" sz="2000">
                <a:highlight>
                  <a:srgbClr val="C0C0C0"/>
                </a:highlight>
              </a:rPr>
              <a:t>Analyzes </a:t>
            </a:r>
            <a:r>
              <a:rPr b="1" lang="en-IN" sz="2000">
                <a:highlight>
                  <a:srgbClr val="C0C0C0"/>
                </a:highlight>
              </a:rPr>
              <a:t>energy markets and trends</a:t>
            </a:r>
            <a:endParaRPr>
              <a:highlight>
                <a:srgbClr val="C0C0C0"/>
              </a:highlight>
            </a:endParaRPr>
          </a:p>
          <a:p>
            <a:pPr indent="0" lvl="0" marL="114300" rtl="0" algn="l">
              <a:lnSpc>
                <a:spcPct val="90000"/>
              </a:lnSpc>
              <a:spcBef>
                <a:spcPts val="1000"/>
              </a:spcBef>
              <a:spcAft>
                <a:spcPts val="0"/>
              </a:spcAft>
              <a:buSzPts val="1800"/>
              <a:buNone/>
            </a:pPr>
            <a:r>
              <a:rPr lang="en-IN" sz="2000">
                <a:highlight>
                  <a:srgbClr val="C0C0C0"/>
                </a:highlight>
              </a:rPr>
              <a:t>Provides </a:t>
            </a:r>
            <a:r>
              <a:rPr b="1" lang="en-IN" sz="2000">
                <a:highlight>
                  <a:srgbClr val="C0C0C0"/>
                </a:highlight>
              </a:rPr>
              <a:t>future energy projections</a:t>
            </a:r>
            <a:endParaRPr>
              <a:highlight>
                <a:srgbClr val="C0C0C0"/>
              </a:highlight>
            </a:endParaRPr>
          </a:p>
          <a:p>
            <a:pPr indent="0" lvl="0" marL="114300" rtl="0" algn="l">
              <a:lnSpc>
                <a:spcPct val="90000"/>
              </a:lnSpc>
              <a:spcBef>
                <a:spcPts val="1000"/>
              </a:spcBef>
              <a:spcAft>
                <a:spcPts val="0"/>
              </a:spcAft>
              <a:buSzPts val="1800"/>
              <a:buNone/>
            </a:pPr>
            <a:r>
              <a:rPr lang="en-IN" sz="2000">
                <a:highlight>
                  <a:srgbClr val="C0C0C0"/>
                </a:highlight>
              </a:rPr>
              <a:t>Helps governments create </a:t>
            </a:r>
            <a:r>
              <a:rPr b="1" lang="en-IN" sz="2000">
                <a:highlight>
                  <a:srgbClr val="C0C0C0"/>
                </a:highlight>
              </a:rPr>
              <a:t>energy and climate policies</a:t>
            </a:r>
            <a:endParaRPr>
              <a:highlight>
                <a:srgbClr val="C0C0C0"/>
              </a:highlight>
            </a:endParaRPr>
          </a:p>
          <a:p>
            <a:pPr indent="-228600" lvl="0" marL="457200" rtl="0" algn="l">
              <a:lnSpc>
                <a:spcPct val="90000"/>
              </a:lnSpc>
              <a:spcBef>
                <a:spcPts val="1000"/>
              </a:spcBef>
              <a:spcAft>
                <a:spcPts val="0"/>
              </a:spcAft>
              <a:buClr>
                <a:schemeClr val="dk1"/>
              </a:buClr>
              <a:buSzPts val="1800"/>
              <a:buNone/>
            </a:pPr>
            <a:r>
              <a:t/>
            </a:r>
            <a:endParaRPr b="1" sz="2000">
              <a:highlight>
                <a:srgbClr val="C0C0C0"/>
              </a:highlight>
            </a:endParaRPr>
          </a:p>
          <a:p>
            <a:pPr indent="-342900" lvl="0" marL="457200" rtl="0" algn="l">
              <a:lnSpc>
                <a:spcPct val="90000"/>
              </a:lnSpc>
              <a:spcBef>
                <a:spcPts val="1000"/>
              </a:spcBef>
              <a:spcAft>
                <a:spcPts val="0"/>
              </a:spcAft>
              <a:buClr>
                <a:schemeClr val="dk1"/>
              </a:buClr>
              <a:buSzPts val="1800"/>
              <a:buChar char="•"/>
            </a:pPr>
            <a:r>
              <a:rPr lang="en-IN" sz="2000">
                <a:latin typeface="Arial"/>
                <a:ea typeface="Arial"/>
                <a:cs typeface="Arial"/>
                <a:sym typeface="Arial"/>
              </a:rPr>
              <a:t>This dataset contains multiple indicators that show the growth and impact of electric vehicles (EVs) across regions from 2010 to 2035. The data includes historical records and future projections under different policy scenarios.</a:t>
            </a:r>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838200" y="365125"/>
            <a:ext cx="10515600" cy="774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18" name="Google Shape;118;p16"/>
          <p:cNvSpPr txBox="1"/>
          <p:nvPr>
            <p:ph idx="1" type="body"/>
          </p:nvPr>
        </p:nvSpPr>
        <p:spPr>
          <a:xfrm>
            <a:off x="838200" y="1389675"/>
            <a:ext cx="10515600" cy="5649000"/>
          </a:xfrm>
          <a:prstGeom prst="rect">
            <a:avLst/>
          </a:prstGeom>
        </p:spPr>
        <p:txBody>
          <a:bodyPr anchorCtr="0" anchor="t" bIns="45700" lIns="91425" spcFirstLastPara="1" rIns="91425" wrap="square" tIns="45700">
            <a:normAutofit/>
          </a:bodyPr>
          <a:lstStyle/>
          <a:p>
            <a:pPr indent="-349250" lvl="0" marL="457200" rtl="0" algn="l">
              <a:lnSpc>
                <a:spcPct val="115000"/>
              </a:lnSpc>
              <a:spcBef>
                <a:spcPts val="0"/>
              </a:spcBef>
              <a:spcAft>
                <a:spcPts val="0"/>
              </a:spcAft>
              <a:buSzPts val="1900"/>
              <a:buFont typeface="Roboto Serif SemiBold"/>
              <a:buChar char="●"/>
            </a:pPr>
            <a:r>
              <a:rPr lang="en-IN" sz="1900">
                <a:latin typeface="Roboto Serif SemiBold"/>
                <a:ea typeface="Roboto Serif SemiBold"/>
                <a:cs typeface="Roboto Serif SemiBold"/>
                <a:sym typeface="Roboto Serif SemiBold"/>
              </a:rPr>
              <a:t>Region </a:t>
            </a:r>
            <a:endParaRPr sz="1900">
              <a:latin typeface="Roboto Serif SemiBold"/>
              <a:ea typeface="Roboto Serif SemiBold"/>
              <a:cs typeface="Roboto Serif SemiBold"/>
              <a:sym typeface="Roboto Serif SemiBold"/>
            </a:endParaRPr>
          </a:p>
          <a:p>
            <a:pPr indent="0" lvl="0" marL="50800" rtl="0" algn="l">
              <a:lnSpc>
                <a:spcPct val="115000"/>
              </a:lnSpc>
              <a:spcBef>
                <a:spcPts val="0"/>
              </a:spcBef>
              <a:spcAft>
                <a:spcPts val="0"/>
              </a:spcAft>
              <a:buNone/>
            </a:pPr>
            <a:r>
              <a:rPr lang="en-IN" sz="1200"/>
              <a:t>  	</a:t>
            </a:r>
            <a:r>
              <a:rPr lang="en-IN" sz="2200"/>
              <a:t> </a:t>
            </a:r>
            <a:r>
              <a:rPr lang="en-IN" sz="2300"/>
              <a:t>Represents geographical area of market where EV is adopted. </a:t>
            </a:r>
            <a:endParaRPr sz="2300"/>
          </a:p>
          <a:p>
            <a:pPr indent="0" lvl="0" marL="50800" rtl="0" algn="l">
              <a:lnSpc>
                <a:spcPct val="115000"/>
              </a:lnSpc>
              <a:spcBef>
                <a:spcPts val="0"/>
              </a:spcBef>
              <a:spcAft>
                <a:spcPts val="0"/>
              </a:spcAft>
              <a:buClr>
                <a:schemeClr val="dk1"/>
              </a:buClr>
              <a:buSzPts val="1100"/>
              <a:buFont typeface="Arial"/>
              <a:buNone/>
            </a:pPr>
            <a:r>
              <a:t/>
            </a:r>
            <a:endParaRPr sz="2200"/>
          </a:p>
          <a:p>
            <a:pPr indent="-349250" lvl="0" marL="457200" rtl="0" algn="l">
              <a:lnSpc>
                <a:spcPct val="115000"/>
              </a:lnSpc>
              <a:spcBef>
                <a:spcPts val="0"/>
              </a:spcBef>
              <a:spcAft>
                <a:spcPts val="0"/>
              </a:spcAft>
              <a:buSzPts val="1900"/>
              <a:buFont typeface="Roboto Serif SemiBold"/>
              <a:buChar char="●"/>
            </a:pPr>
            <a:r>
              <a:rPr lang="en-IN" sz="1900">
                <a:latin typeface="Roboto Serif SemiBold"/>
                <a:ea typeface="Roboto Serif SemiBold"/>
                <a:cs typeface="Roboto Serif SemiBold"/>
                <a:sym typeface="Roboto Serif SemiBold"/>
              </a:rPr>
              <a:t>Category </a:t>
            </a:r>
            <a:endParaRPr sz="1900">
              <a:latin typeface="Roboto Serif SemiBold"/>
              <a:ea typeface="Roboto Serif SemiBold"/>
              <a:cs typeface="Roboto Serif SemiBold"/>
              <a:sym typeface="Roboto Serif SemiBold"/>
            </a:endParaRPr>
          </a:p>
          <a:p>
            <a:pPr indent="0" lvl="0" marL="0" rtl="0" algn="l">
              <a:lnSpc>
                <a:spcPct val="115000"/>
              </a:lnSpc>
              <a:spcBef>
                <a:spcPts val="1100"/>
              </a:spcBef>
              <a:spcAft>
                <a:spcPts val="0"/>
              </a:spcAft>
              <a:buClr>
                <a:schemeClr val="dk1"/>
              </a:buClr>
              <a:buSzPts val="1100"/>
              <a:buFont typeface="Arial"/>
              <a:buNone/>
            </a:pPr>
            <a:r>
              <a:rPr lang="en-IN" sz="2000"/>
              <a:t>This indicates whether the data is Historical, Projection-APS, Projection-STEP.  This are the category type classification used by </a:t>
            </a:r>
            <a:r>
              <a:rPr b="1" lang="en-IN" sz="2000"/>
              <a:t>IEA </a:t>
            </a:r>
            <a:r>
              <a:rPr lang="en-IN" sz="2000"/>
              <a:t>for better research and analysis to deliver better advices on energy.  </a:t>
            </a:r>
            <a:endParaRPr sz="2000"/>
          </a:p>
          <a:p>
            <a:pPr indent="0" lvl="0" marL="457200" rtl="0" algn="l">
              <a:lnSpc>
                <a:spcPct val="115000"/>
              </a:lnSpc>
              <a:spcBef>
                <a:spcPts val="1100"/>
              </a:spcBef>
              <a:spcAft>
                <a:spcPts val="0"/>
              </a:spcAft>
              <a:buNone/>
            </a:pPr>
            <a:r>
              <a:rPr lang="en-IN" sz="2000"/>
              <a:t>   -    </a:t>
            </a:r>
            <a:r>
              <a:rPr lang="en-IN" sz="2200"/>
              <a:t>Historical (Already recorded EV Data),  </a:t>
            </a:r>
            <a:endParaRPr sz="2200"/>
          </a:p>
          <a:p>
            <a:pPr indent="-368300" lvl="0" marL="914400" rtl="0" algn="l">
              <a:lnSpc>
                <a:spcPct val="115000"/>
              </a:lnSpc>
              <a:spcBef>
                <a:spcPts val="0"/>
              </a:spcBef>
              <a:spcAft>
                <a:spcPts val="0"/>
              </a:spcAft>
              <a:buSzPts val="2200"/>
              <a:buChar char="-"/>
            </a:pPr>
            <a:r>
              <a:rPr lang="en-IN" sz="2200"/>
              <a:t>Projection-APS (Announced Policy Scenario) </a:t>
            </a:r>
            <a:endParaRPr sz="2200"/>
          </a:p>
          <a:p>
            <a:pPr indent="0" lvl="0" marL="0" rtl="0" algn="l">
              <a:lnSpc>
                <a:spcPct val="115000"/>
              </a:lnSpc>
              <a:spcBef>
                <a:spcPts val="0"/>
              </a:spcBef>
              <a:spcAft>
                <a:spcPts val="0"/>
              </a:spcAft>
              <a:buNone/>
            </a:pPr>
            <a:r>
              <a:rPr lang="en-IN" sz="2000"/>
              <a:t>Future based on climate commitments (climate commitments are government pledges to reduce greenhouse Gas Emission and promote clean technology like EV. </a:t>
            </a:r>
            <a:endParaRPr sz="2000"/>
          </a:p>
          <a:p>
            <a:pPr indent="0" lvl="0" marL="0" rtl="0" algn="l">
              <a:lnSpc>
                <a:spcPct val="115000"/>
              </a:lnSpc>
              <a:spcBef>
                <a:spcPts val="0"/>
              </a:spcBef>
              <a:spcAft>
                <a:spcPts val="0"/>
              </a:spcAft>
              <a:buNone/>
            </a:pPr>
            <a:r>
              <a:rPr lang="en-IN" sz="2000"/>
              <a:t>         -     </a:t>
            </a:r>
            <a:r>
              <a:rPr lang="en-IN" sz="2300"/>
              <a:t>Projection-STEP (Stated Policy Scenario) </a:t>
            </a:r>
            <a:endParaRPr sz="2300"/>
          </a:p>
          <a:p>
            <a:pPr indent="0" lvl="0" marL="0" rtl="0" algn="l">
              <a:lnSpc>
                <a:spcPct val="115000"/>
              </a:lnSpc>
              <a:spcBef>
                <a:spcPts val="0"/>
              </a:spcBef>
              <a:spcAft>
                <a:spcPts val="0"/>
              </a:spcAft>
              <a:buNone/>
            </a:pPr>
            <a:r>
              <a:rPr lang="en-IN" sz="2200"/>
              <a:t>Future based on current policies.</a:t>
            </a:r>
            <a:endParaRPr sz="2200"/>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838200" y="365125"/>
            <a:ext cx="10515600" cy="753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25" name="Google Shape;125;p17"/>
          <p:cNvSpPr txBox="1"/>
          <p:nvPr>
            <p:ph idx="1" type="body"/>
          </p:nvPr>
        </p:nvSpPr>
        <p:spPr>
          <a:xfrm>
            <a:off x="838200" y="1368825"/>
            <a:ext cx="10515600" cy="5628300"/>
          </a:xfrm>
          <a:prstGeom prst="rect">
            <a:avLst/>
          </a:prstGeom>
        </p:spPr>
        <p:txBody>
          <a:bodyPr anchorCtr="0" anchor="t" bIns="45700" lIns="91425" spcFirstLastPara="1" rIns="91425" wrap="square" tIns="45700">
            <a:normAutofit/>
          </a:bodyPr>
          <a:lstStyle/>
          <a:p>
            <a:pPr indent="-387350" lvl="0" marL="457200" rtl="0" algn="l">
              <a:lnSpc>
                <a:spcPct val="115000"/>
              </a:lnSpc>
              <a:spcBef>
                <a:spcPts val="1100"/>
              </a:spcBef>
              <a:spcAft>
                <a:spcPts val="0"/>
              </a:spcAft>
              <a:buSzPts val="2500"/>
              <a:buFont typeface="Roboto Serif"/>
              <a:buChar char="●"/>
            </a:pPr>
            <a:r>
              <a:rPr lang="en-IN" sz="2500">
                <a:latin typeface="Roboto Serif"/>
                <a:ea typeface="Roboto Serif"/>
                <a:cs typeface="Roboto Serif"/>
                <a:sym typeface="Roboto Serif"/>
              </a:rPr>
              <a:t>Parameter </a:t>
            </a:r>
            <a:endParaRPr sz="2500">
              <a:latin typeface="Roboto Serif"/>
              <a:ea typeface="Roboto Serif"/>
              <a:cs typeface="Roboto Serif"/>
              <a:sym typeface="Roboto Serif"/>
            </a:endParaRPr>
          </a:p>
          <a:p>
            <a:pPr indent="0" lvl="0" marL="457200" rtl="0" algn="l">
              <a:lnSpc>
                <a:spcPct val="115000"/>
              </a:lnSpc>
              <a:spcBef>
                <a:spcPts val="1100"/>
              </a:spcBef>
              <a:spcAft>
                <a:spcPts val="0"/>
              </a:spcAft>
              <a:buNone/>
            </a:pPr>
            <a:r>
              <a:rPr lang="en-IN" sz="2600"/>
              <a:t>(</a:t>
            </a:r>
            <a:r>
              <a:rPr lang="en-IN" sz="2500"/>
              <a:t>Represents different indicators of EV market growth</a:t>
            </a:r>
            <a:r>
              <a:rPr lang="en-IN" sz="2600"/>
              <a:t>) </a:t>
            </a:r>
            <a:endParaRPr sz="2600"/>
          </a:p>
          <a:p>
            <a:pPr indent="-376800" lvl="0" marL="457200" rtl="0" algn="l">
              <a:lnSpc>
                <a:spcPct val="115000"/>
              </a:lnSpc>
              <a:spcBef>
                <a:spcPts val="1100"/>
              </a:spcBef>
              <a:spcAft>
                <a:spcPts val="0"/>
              </a:spcAft>
              <a:buSzPts val="2334"/>
              <a:buChar char="-"/>
            </a:pPr>
            <a:r>
              <a:rPr lang="en-IN" sz="2334"/>
              <a:t>EV Sales and Stocks. </a:t>
            </a:r>
            <a:endParaRPr sz="2334"/>
          </a:p>
          <a:p>
            <a:pPr indent="-376800" lvl="0" marL="457200" rtl="0" algn="l">
              <a:lnSpc>
                <a:spcPct val="115000"/>
              </a:lnSpc>
              <a:spcBef>
                <a:spcPts val="0"/>
              </a:spcBef>
              <a:spcAft>
                <a:spcPts val="0"/>
              </a:spcAft>
              <a:buSzPts val="2334"/>
              <a:buChar char="-"/>
            </a:pPr>
            <a:r>
              <a:rPr lang="en-IN" sz="2334"/>
              <a:t>Electricity Demand. </a:t>
            </a:r>
            <a:endParaRPr sz="2334"/>
          </a:p>
          <a:p>
            <a:pPr indent="-376800" lvl="0" marL="457200" rtl="0" algn="l">
              <a:lnSpc>
                <a:spcPct val="115000"/>
              </a:lnSpc>
              <a:spcBef>
                <a:spcPts val="0"/>
              </a:spcBef>
              <a:spcAft>
                <a:spcPts val="0"/>
              </a:spcAft>
              <a:buSzPts val="2334"/>
              <a:buChar char="-"/>
            </a:pPr>
            <a:r>
              <a:rPr lang="en-IN" sz="2334"/>
              <a:t>Charging Point. </a:t>
            </a:r>
            <a:endParaRPr sz="2334"/>
          </a:p>
          <a:p>
            <a:pPr indent="-376800" lvl="0" marL="457200" rtl="0" algn="l">
              <a:lnSpc>
                <a:spcPct val="115000"/>
              </a:lnSpc>
              <a:spcBef>
                <a:spcPts val="0"/>
              </a:spcBef>
              <a:spcAft>
                <a:spcPts val="0"/>
              </a:spcAft>
              <a:buSzPts val="2334"/>
              <a:buChar char="-"/>
            </a:pPr>
            <a:r>
              <a:rPr lang="en-IN" sz="2334"/>
              <a:t>Oil Displacement (MBD) </a:t>
            </a:r>
            <a:endParaRPr sz="2334"/>
          </a:p>
          <a:p>
            <a:pPr indent="0" lvl="0" marL="457200" rtl="0" algn="l">
              <a:lnSpc>
                <a:spcPct val="115000"/>
              </a:lnSpc>
              <a:spcBef>
                <a:spcPts val="0"/>
              </a:spcBef>
              <a:spcAft>
                <a:spcPts val="0"/>
              </a:spcAft>
              <a:buNone/>
            </a:pPr>
            <a:r>
              <a:rPr lang="en-IN" sz="2334"/>
              <a:t>      Oil saved due to EV Adoption (Million Barrels per Day). </a:t>
            </a:r>
            <a:endParaRPr sz="2334"/>
          </a:p>
          <a:p>
            <a:pPr indent="-376800" lvl="0" marL="457200" rtl="0" algn="l">
              <a:lnSpc>
                <a:spcPct val="115000"/>
              </a:lnSpc>
              <a:spcBef>
                <a:spcPts val="0"/>
              </a:spcBef>
              <a:spcAft>
                <a:spcPts val="0"/>
              </a:spcAft>
              <a:buSzPts val="2334"/>
              <a:buChar char="-"/>
            </a:pPr>
            <a:r>
              <a:rPr lang="en-IN" sz="2334"/>
              <a:t>Oil Displacement (Million LGE) </a:t>
            </a:r>
            <a:endParaRPr sz="2334"/>
          </a:p>
          <a:p>
            <a:pPr indent="0" lvl="0" marL="457200" rtl="0" algn="l">
              <a:lnSpc>
                <a:spcPct val="115000"/>
              </a:lnSpc>
              <a:spcBef>
                <a:spcPts val="0"/>
              </a:spcBef>
              <a:spcAft>
                <a:spcPts val="0"/>
              </a:spcAft>
              <a:buNone/>
            </a:pPr>
            <a:r>
              <a:rPr lang="en-IN" sz="2334"/>
              <a:t>       Oil savings measured in gasoline equivalent. </a:t>
            </a:r>
            <a:endParaRPr sz="2334"/>
          </a:p>
          <a:p>
            <a:pPr indent="0" lvl="0" marL="457200" rtl="0" algn="l">
              <a:lnSpc>
                <a:spcPct val="115000"/>
              </a:lnSpc>
              <a:spcBef>
                <a:spcPts val="1100"/>
              </a:spcBef>
              <a:spcAft>
                <a:spcPts val="0"/>
              </a:spcAft>
              <a:buNone/>
            </a:pPr>
            <a:r>
              <a:t/>
            </a:r>
            <a:endParaRPr sz="2600"/>
          </a:p>
          <a:p>
            <a:pPr indent="0" lvl="0" marL="457200" rtl="0" algn="l">
              <a:spcBef>
                <a:spcPts val="11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838200" y="365125"/>
            <a:ext cx="10515600" cy="1045500"/>
          </a:xfrm>
          <a:prstGeom prst="rect">
            <a:avLst/>
          </a:prstGeom>
        </p:spPr>
        <p:txBody>
          <a:bodyPr anchorCtr="0" anchor="ctr" bIns="45700" lIns="91425" spcFirstLastPara="1" rIns="91425" wrap="square" tIns="45700">
            <a:normAutofit fontScale="90000"/>
          </a:bodyPr>
          <a:lstStyle/>
          <a:p>
            <a:pPr indent="-398780" lvl="0" marL="457200" rtl="0" algn="l">
              <a:lnSpc>
                <a:spcPct val="115000"/>
              </a:lnSpc>
              <a:spcBef>
                <a:spcPts val="0"/>
              </a:spcBef>
              <a:spcAft>
                <a:spcPts val="0"/>
              </a:spcAft>
              <a:buSzPct val="100000"/>
              <a:buFont typeface="Roboto Serif SemiBold"/>
              <a:buChar char="●"/>
            </a:pPr>
            <a:r>
              <a:rPr lang="en-IN" sz="2978">
                <a:latin typeface="Roboto Serif SemiBold"/>
                <a:ea typeface="Roboto Serif SemiBold"/>
                <a:cs typeface="Roboto Serif SemiBold"/>
                <a:sym typeface="Roboto Serif SemiBold"/>
              </a:rPr>
              <a:t>Mode </a:t>
            </a:r>
            <a:endParaRPr sz="2978">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ct val="91667"/>
              <a:buFont typeface="Arial"/>
              <a:buNone/>
            </a:pPr>
            <a:r>
              <a:rPr lang="en-IN" sz="1200"/>
              <a:t> 	 </a:t>
            </a:r>
            <a:endParaRPr sz="1200"/>
          </a:p>
          <a:p>
            <a:pPr indent="0" lvl="0" marL="457200" rtl="0" algn="l">
              <a:lnSpc>
                <a:spcPct val="115000"/>
              </a:lnSpc>
              <a:spcBef>
                <a:spcPts val="0"/>
              </a:spcBef>
              <a:spcAft>
                <a:spcPts val="0"/>
              </a:spcAft>
              <a:buNone/>
            </a:pPr>
            <a:r>
              <a:rPr lang="en-IN" sz="1200"/>
              <a:t>	</a:t>
            </a:r>
            <a:r>
              <a:rPr lang="en-IN" sz="2533"/>
              <a:t> </a:t>
            </a:r>
            <a:r>
              <a:rPr lang="en-IN" sz="2867"/>
              <a:t>Represents type of vehicle. </a:t>
            </a:r>
            <a:endParaRPr sz="2867"/>
          </a:p>
          <a:p>
            <a:pPr indent="0" lvl="0" marL="0" rtl="0" algn="l">
              <a:spcBef>
                <a:spcPts val="0"/>
              </a:spcBef>
              <a:spcAft>
                <a:spcPts val="0"/>
              </a:spcAft>
              <a:buNone/>
            </a:pPr>
            <a:r>
              <a:t/>
            </a:r>
            <a:endParaRPr/>
          </a:p>
        </p:txBody>
      </p:sp>
      <p:sp>
        <p:nvSpPr>
          <p:cNvPr id="132" name="Google Shape;132;p18"/>
          <p:cNvSpPr txBox="1"/>
          <p:nvPr>
            <p:ph idx="1" type="body"/>
          </p:nvPr>
        </p:nvSpPr>
        <p:spPr>
          <a:xfrm>
            <a:off x="567225" y="1804775"/>
            <a:ext cx="10515600" cy="50532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0"/>
              </a:spcBef>
              <a:spcAft>
                <a:spcPts val="0"/>
              </a:spcAft>
              <a:buSzPts val="2200"/>
              <a:buFont typeface="Roboto Serif SemiBold"/>
              <a:buChar char="●"/>
            </a:pPr>
            <a:r>
              <a:rPr lang="en-IN" sz="2200">
                <a:latin typeface="Roboto Serif SemiBold"/>
                <a:ea typeface="Roboto Serif SemiBold"/>
                <a:cs typeface="Roboto Serif SemiBold"/>
                <a:sym typeface="Roboto Serif SemiBold"/>
              </a:rPr>
              <a:t>Powertrain </a:t>
            </a:r>
            <a:endParaRPr sz="2200">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ts val="1100"/>
              <a:buFont typeface="Arial"/>
              <a:buNone/>
            </a:pPr>
            <a:r>
              <a:rPr lang="en-IN" sz="1200"/>
              <a:t>	 </a:t>
            </a:r>
            <a:endParaRPr sz="1200"/>
          </a:p>
          <a:p>
            <a:pPr indent="-342900" lvl="0" marL="457200" rtl="0" algn="l">
              <a:lnSpc>
                <a:spcPct val="115000"/>
              </a:lnSpc>
              <a:spcBef>
                <a:spcPts val="0"/>
              </a:spcBef>
              <a:spcAft>
                <a:spcPts val="0"/>
              </a:spcAft>
              <a:buSzPts val="1800"/>
              <a:buChar char="-"/>
            </a:pPr>
            <a:r>
              <a:rPr lang="en-IN" sz="2300"/>
              <a:t>B</a:t>
            </a:r>
            <a:r>
              <a:rPr lang="en-IN" sz="2200"/>
              <a:t>EV </a:t>
            </a:r>
            <a:endParaRPr sz="2200"/>
          </a:p>
          <a:p>
            <a:pPr indent="-368300" lvl="0" marL="457200" rtl="0" algn="l">
              <a:lnSpc>
                <a:spcPct val="115000"/>
              </a:lnSpc>
              <a:spcBef>
                <a:spcPts val="0"/>
              </a:spcBef>
              <a:spcAft>
                <a:spcPts val="0"/>
              </a:spcAft>
              <a:buSzPts val="2200"/>
              <a:buChar char="-"/>
            </a:pPr>
            <a:r>
              <a:rPr lang="en-IN" sz="2200"/>
              <a:t>PHEV </a:t>
            </a:r>
            <a:endParaRPr sz="2200"/>
          </a:p>
          <a:p>
            <a:pPr indent="-368300" lvl="0" marL="457200" rtl="0" algn="l">
              <a:lnSpc>
                <a:spcPct val="115000"/>
              </a:lnSpc>
              <a:spcBef>
                <a:spcPts val="0"/>
              </a:spcBef>
              <a:spcAft>
                <a:spcPts val="0"/>
              </a:spcAft>
              <a:buSzPts val="2200"/>
              <a:buChar char="-"/>
            </a:pPr>
            <a:r>
              <a:rPr lang="en-IN" sz="2200"/>
              <a:t>Publicly Available Fast </a:t>
            </a:r>
            <a:endParaRPr sz="2200"/>
          </a:p>
          <a:p>
            <a:pPr indent="-368300" lvl="0" marL="457200" rtl="0" algn="l">
              <a:lnSpc>
                <a:spcPct val="115000"/>
              </a:lnSpc>
              <a:spcBef>
                <a:spcPts val="0"/>
              </a:spcBef>
              <a:spcAft>
                <a:spcPts val="0"/>
              </a:spcAft>
              <a:buSzPts val="2200"/>
              <a:buChar char="-"/>
            </a:pPr>
            <a:r>
              <a:rPr lang="en-IN" sz="2200"/>
              <a:t>Publicly Available Slow. </a:t>
            </a:r>
            <a:endParaRPr sz="2200"/>
          </a:p>
          <a:p>
            <a:pPr indent="0" lvl="0" marL="685800" rtl="0" algn="l">
              <a:lnSpc>
                <a:spcPct val="115000"/>
              </a:lnSpc>
              <a:spcBef>
                <a:spcPts val="0"/>
              </a:spcBef>
              <a:spcAft>
                <a:spcPts val="0"/>
              </a:spcAft>
              <a:buClr>
                <a:schemeClr val="dk1"/>
              </a:buClr>
              <a:buSzPts val="1100"/>
              <a:buFont typeface="Arial"/>
              <a:buNone/>
            </a:pPr>
            <a:r>
              <a:rPr lang="en-IN" sz="1200"/>
              <a:t> </a:t>
            </a:r>
            <a:endParaRPr sz="1200"/>
          </a:p>
          <a:p>
            <a:pPr indent="0" lvl="0" marL="0" rtl="0" algn="l">
              <a:spcBef>
                <a:spcPts val="10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838200" y="365125"/>
            <a:ext cx="10515600" cy="2608800"/>
          </a:xfrm>
          <a:prstGeom prst="rect">
            <a:avLst/>
          </a:prstGeom>
        </p:spPr>
        <p:txBody>
          <a:bodyPr anchorCtr="0" anchor="ctr" bIns="45700" lIns="91425" spcFirstLastPara="1" rIns="91425" wrap="square" tIns="45700">
            <a:normAutofit/>
          </a:bodyPr>
          <a:lstStyle/>
          <a:p>
            <a:pPr indent="-368300" lvl="0" marL="457200" rtl="0" algn="l">
              <a:lnSpc>
                <a:spcPct val="115000"/>
              </a:lnSpc>
              <a:spcBef>
                <a:spcPts val="0"/>
              </a:spcBef>
              <a:spcAft>
                <a:spcPts val="0"/>
              </a:spcAft>
              <a:buSzPts val="2200"/>
              <a:buFont typeface="Roboto Serif SemiBold"/>
              <a:buChar char="●"/>
            </a:pPr>
            <a:r>
              <a:rPr lang="en-IN" sz="2200">
                <a:latin typeface="Roboto Serif SemiBold"/>
                <a:ea typeface="Roboto Serif SemiBold"/>
                <a:cs typeface="Roboto Serif SemiBold"/>
                <a:sym typeface="Roboto Serif SemiBold"/>
              </a:rPr>
              <a:t>Year (2010 to 2035) </a:t>
            </a:r>
            <a:endParaRPr sz="2200">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ts val="1100"/>
              <a:buFont typeface="Arial"/>
              <a:buNone/>
            </a:pPr>
            <a:r>
              <a:rPr lang="en-IN" sz="2200"/>
              <a:t>- Allowing analysis of Historical Data and Future Projection.   </a:t>
            </a:r>
            <a:endParaRPr sz="2200"/>
          </a:p>
          <a:p>
            <a:pPr indent="0" lvl="0" marL="685800" rtl="0" algn="l">
              <a:lnSpc>
                <a:spcPct val="115000"/>
              </a:lnSpc>
              <a:spcBef>
                <a:spcPts val="0"/>
              </a:spcBef>
              <a:spcAft>
                <a:spcPts val="0"/>
              </a:spcAft>
              <a:buClr>
                <a:schemeClr val="dk1"/>
              </a:buClr>
              <a:buSzPts val="1100"/>
              <a:buFont typeface="Arial"/>
              <a:buNone/>
            </a:pPr>
            <a:r>
              <a:rPr lang="en-IN" sz="1200"/>
              <a:t> </a:t>
            </a:r>
            <a:endParaRPr sz="1200"/>
          </a:p>
          <a:p>
            <a:pPr indent="-342900" lvl="0" marL="457200" rtl="0" algn="l">
              <a:lnSpc>
                <a:spcPct val="115000"/>
              </a:lnSpc>
              <a:spcBef>
                <a:spcPts val="0"/>
              </a:spcBef>
              <a:spcAft>
                <a:spcPts val="0"/>
              </a:spcAft>
              <a:buSzPts val="1800"/>
              <a:buFont typeface="Arial"/>
              <a:buChar char="●"/>
            </a:pPr>
            <a:r>
              <a:rPr lang="en-IN" sz="2200">
                <a:latin typeface="Roboto Serif SemiBold"/>
                <a:ea typeface="Roboto Serif SemiBold"/>
                <a:cs typeface="Roboto Serif SemiBold"/>
                <a:sym typeface="Roboto Serif SemiBold"/>
              </a:rPr>
              <a:t>Values and Units.    </a:t>
            </a:r>
            <a:r>
              <a:rPr lang="en-IN" sz="1400"/>
              <a:t>  </a:t>
            </a:r>
            <a:r>
              <a:rPr lang="en-IN" sz="1200"/>
              <a:t> </a:t>
            </a:r>
            <a:endParaRPr sz="2200">
              <a:latin typeface="Roboto Serif SemiBold"/>
              <a:ea typeface="Roboto Serif SemiBold"/>
              <a:cs typeface="Roboto Serif SemiBold"/>
              <a:sym typeface="Roboto Serif SemiBold"/>
            </a:endParaRPr>
          </a:p>
        </p:txBody>
      </p:sp>
      <p:sp>
        <p:nvSpPr>
          <p:cNvPr id="139" name="Google Shape;139;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t/>
            </a:r>
            <a:endParaRPr sz="1200"/>
          </a:p>
          <a:p>
            <a:pPr indent="0" lvl="0" marL="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p20"/>
          <p:cNvSpPr txBox="1"/>
          <p:nvPr>
            <p:ph idx="1" type="body"/>
          </p:nvPr>
        </p:nvSpPr>
        <p:spPr>
          <a:xfrm>
            <a:off x="838200" y="660100"/>
            <a:ext cx="10515600" cy="6295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aseline="30000" lang="en-IN" sz="3800">
                <a:highlight>
                  <a:srgbClr val="FFFFFF"/>
                </a:highlight>
              </a:rPr>
              <a:t>                           </a:t>
            </a:r>
            <a:r>
              <a:rPr baseline="30000" lang="en-IN" sz="3800">
                <a:highlight>
                  <a:srgbClr val="FFFFFF"/>
                </a:highlight>
                <a:latin typeface="Arial"/>
                <a:ea typeface="Arial"/>
                <a:cs typeface="Arial"/>
                <a:sym typeface="Arial"/>
              </a:rPr>
              <a:t> As per the IEA Data the, total number of EV sales reached 261.61 million ( around 26.16 crore, vehicles) contributing to a cumulative stock of 1.42 ( 37.15 crore vehicles) billion vehicles on the road. This shows long term growth of EV adoption.</a:t>
            </a:r>
            <a:r>
              <a:rPr lang="en-IN" sz="2700">
                <a:highlight>
                  <a:srgbClr val="FFFFFF"/>
                </a:highlight>
              </a:rPr>
              <a:t> </a:t>
            </a:r>
            <a:endParaRPr sz="2700">
              <a:highlight>
                <a:srgbClr val="FFFFFF"/>
              </a:highlight>
            </a:endParaRPr>
          </a:p>
          <a:p>
            <a:pPr indent="0" lvl="0" marL="0" rtl="0" algn="l">
              <a:spcBef>
                <a:spcPts val="1000"/>
              </a:spcBef>
              <a:spcAft>
                <a:spcPts val="0"/>
              </a:spcAft>
              <a:buNone/>
            </a:pPr>
            <a:r>
              <a:t/>
            </a:r>
            <a:endParaRPr sz="2700">
              <a:highlight>
                <a:srgbClr val="FFFFFF"/>
              </a:highlight>
            </a:endParaRPr>
          </a:p>
          <a:p>
            <a:pPr indent="-342900" lvl="0" marL="457200" rtl="0" algn="l">
              <a:lnSpc>
                <a:spcPct val="115000"/>
              </a:lnSpc>
              <a:spcBef>
                <a:spcPts val="0"/>
              </a:spcBef>
              <a:spcAft>
                <a:spcPts val="0"/>
              </a:spcAft>
              <a:buSzPts val="1800"/>
              <a:buFont typeface="Roboto Serif Medium"/>
              <a:buChar char="➢"/>
            </a:pPr>
            <a:r>
              <a:rPr baseline="30000" lang="en-IN" sz="4200">
                <a:highlight>
                  <a:srgbClr val="FFFFFF"/>
                </a:highlight>
                <a:latin typeface="Roboto Serif Medium"/>
                <a:ea typeface="Roboto Serif Medium"/>
                <a:cs typeface="Roboto Serif Medium"/>
                <a:sym typeface="Roboto Serif Medium"/>
              </a:rPr>
              <a:t>Total EV value by region over the years.</a:t>
            </a:r>
            <a:endParaRPr sz="3100">
              <a:highlight>
                <a:srgbClr val="FFFFFF"/>
              </a:highlight>
              <a:latin typeface="Roboto Serif Medium"/>
              <a:ea typeface="Roboto Serif Medium"/>
              <a:cs typeface="Roboto Serif Medium"/>
              <a:sym typeface="Roboto Serif Medium"/>
            </a:endParaRPr>
          </a:p>
          <a:p>
            <a:pPr indent="0" lvl="0" marL="457200" rtl="0" algn="l">
              <a:lnSpc>
                <a:spcPct val="115000"/>
              </a:lnSpc>
              <a:spcBef>
                <a:spcPts val="0"/>
              </a:spcBef>
              <a:spcAft>
                <a:spcPts val="0"/>
              </a:spcAft>
              <a:buNone/>
            </a:pPr>
            <a:r>
              <a:rPr baseline="30000" lang="en-IN" sz="3500">
                <a:highlight>
                  <a:srgbClr val="FFFF00"/>
                </a:highlight>
                <a:latin typeface="Arial"/>
                <a:ea typeface="Arial"/>
                <a:cs typeface="Arial"/>
                <a:sym typeface="Arial"/>
              </a:rPr>
              <a:t>China</a:t>
            </a:r>
            <a:r>
              <a:rPr baseline="30000" lang="en-IN" sz="3500">
                <a:highlight>
                  <a:srgbClr val="FFFFFF"/>
                </a:highlight>
                <a:latin typeface="Arial"/>
                <a:ea typeface="Arial"/>
                <a:cs typeface="Arial"/>
                <a:sym typeface="Arial"/>
              </a:rPr>
              <a:t> dominates global EV sales with 173.38 million units(24.62%), followed by the United States with 62.71 million units(15.69%).Another notable contributors to EV adotion are India, Germany, France, and the United Kingdom.</a:t>
            </a:r>
            <a:r>
              <a:rPr lang="en-IN" sz="2400">
                <a:highlight>
                  <a:srgbClr val="FFFFFF"/>
                </a:highlight>
                <a:latin typeface="Arial"/>
                <a:ea typeface="Arial"/>
                <a:cs typeface="Arial"/>
                <a:sym typeface="Arial"/>
              </a:rPr>
              <a:t> </a:t>
            </a:r>
            <a:endParaRPr sz="2400">
              <a:highlight>
                <a:srgbClr val="FFFFFF"/>
              </a:highlight>
              <a:latin typeface="Arial"/>
              <a:ea typeface="Arial"/>
              <a:cs typeface="Arial"/>
              <a:sym typeface="Arial"/>
            </a:endParaRPr>
          </a:p>
          <a:p>
            <a:pPr indent="0" lvl="0" marL="0" rtl="0" algn="l">
              <a:spcBef>
                <a:spcPts val="1000"/>
              </a:spcBef>
              <a:spcAft>
                <a:spcPts val="0"/>
              </a:spcAft>
              <a:buNone/>
            </a:pPr>
            <a:r>
              <a:t/>
            </a:r>
            <a:endParaRPr sz="2700">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53" name="Google Shape;153;p21"/>
          <p:cNvSpPr txBox="1"/>
          <p:nvPr>
            <p:ph idx="1" type="body"/>
          </p:nvPr>
        </p:nvSpPr>
        <p:spPr>
          <a:xfrm>
            <a:off x="465550" y="365125"/>
            <a:ext cx="10888200" cy="6798600"/>
          </a:xfrm>
          <a:prstGeom prst="rect">
            <a:avLst/>
          </a:prstGeom>
        </p:spPr>
        <p:txBody>
          <a:bodyPr anchorCtr="0" anchor="t" bIns="45700" lIns="91425" spcFirstLastPara="1" rIns="91425" wrap="square" tIns="45700">
            <a:normAutofit/>
          </a:bodyPr>
          <a:lstStyle/>
          <a:p>
            <a:pPr indent="-400050" lvl="0" marL="685800" rtl="0" algn="l">
              <a:lnSpc>
                <a:spcPct val="115000"/>
              </a:lnSpc>
              <a:spcBef>
                <a:spcPts val="0"/>
              </a:spcBef>
              <a:spcAft>
                <a:spcPts val="0"/>
              </a:spcAft>
              <a:buSzPts val="2700"/>
              <a:buFont typeface="Roboto Serif SemiBold"/>
              <a:buChar char="➢"/>
            </a:pPr>
            <a:r>
              <a:rPr lang="en-IN" sz="2700">
                <a:highlight>
                  <a:srgbClr val="FFFFFF"/>
                </a:highlight>
                <a:latin typeface="Roboto Serif SemiBold"/>
                <a:ea typeface="Roboto Serif SemiBold"/>
                <a:cs typeface="Roboto Serif SemiBold"/>
                <a:sym typeface="Roboto Serif SemiBold"/>
              </a:rPr>
              <a:t>EV penetration differs between categories by region. </a:t>
            </a:r>
            <a:endParaRPr sz="2700">
              <a:highlight>
                <a:srgbClr val="FFFFFF"/>
              </a:highlight>
              <a:latin typeface="Roboto Serif SemiBold"/>
              <a:ea typeface="Roboto Serif SemiBold"/>
              <a:cs typeface="Roboto Serif SemiBold"/>
              <a:sym typeface="Roboto Serif SemiBold"/>
            </a:endParaRPr>
          </a:p>
          <a:p>
            <a:pPr indent="0" lvl="0" marL="0" rtl="0" algn="l">
              <a:lnSpc>
                <a:spcPct val="115000"/>
              </a:lnSpc>
              <a:spcBef>
                <a:spcPts val="1200"/>
              </a:spcBef>
              <a:spcAft>
                <a:spcPts val="0"/>
              </a:spcAft>
              <a:buNone/>
            </a:pPr>
            <a:r>
              <a:rPr lang="en-IN" sz="2500">
                <a:highlight>
                  <a:srgbClr val="FFFFFF"/>
                </a:highlight>
                <a:latin typeface="Arial"/>
                <a:ea typeface="Arial"/>
                <a:cs typeface="Arial"/>
                <a:sym typeface="Arial"/>
              </a:rPr>
              <a:t>        -   EV sales are categorized into </a:t>
            </a:r>
            <a:r>
              <a:rPr lang="en-IN" sz="2500">
                <a:highlight>
                  <a:srgbClr val="FFFF00"/>
                </a:highlight>
                <a:latin typeface="Arial"/>
                <a:ea typeface="Arial"/>
                <a:cs typeface="Arial"/>
                <a:sym typeface="Arial"/>
              </a:rPr>
              <a:t>cars</a:t>
            </a:r>
            <a:r>
              <a:rPr lang="en-IN" sz="2500">
                <a:highlight>
                  <a:srgbClr val="FFFFFF"/>
                </a:highlight>
                <a:latin typeface="Arial"/>
                <a:ea typeface="Arial"/>
                <a:cs typeface="Arial"/>
                <a:sym typeface="Arial"/>
              </a:rPr>
              <a:t>, </a:t>
            </a:r>
            <a:r>
              <a:rPr lang="en-IN" sz="2500">
                <a:highlight>
                  <a:srgbClr val="FFFF00"/>
                </a:highlight>
                <a:latin typeface="Arial"/>
                <a:ea typeface="Arial"/>
                <a:cs typeface="Arial"/>
                <a:sym typeface="Arial"/>
              </a:rPr>
              <a:t>vans</a:t>
            </a:r>
            <a:r>
              <a:rPr lang="en-IN" sz="2500">
                <a:highlight>
                  <a:srgbClr val="FFFFFF"/>
                </a:highlight>
                <a:latin typeface="Arial"/>
                <a:ea typeface="Arial"/>
                <a:cs typeface="Arial"/>
                <a:sym typeface="Arial"/>
              </a:rPr>
              <a:t>, </a:t>
            </a:r>
            <a:r>
              <a:rPr lang="en-IN" sz="2500">
                <a:highlight>
                  <a:srgbClr val="FFFF00"/>
                </a:highlight>
                <a:latin typeface="Arial"/>
                <a:ea typeface="Arial"/>
                <a:cs typeface="Arial"/>
                <a:sym typeface="Arial"/>
              </a:rPr>
              <a:t>trucks</a:t>
            </a:r>
            <a:r>
              <a:rPr lang="en-IN" sz="2500">
                <a:highlight>
                  <a:srgbClr val="FFFFFF"/>
                </a:highlight>
                <a:latin typeface="Arial"/>
                <a:ea typeface="Arial"/>
                <a:cs typeface="Arial"/>
                <a:sym typeface="Arial"/>
              </a:rPr>
              <a:t>, and </a:t>
            </a:r>
            <a:r>
              <a:rPr lang="en-IN" sz="2500">
                <a:highlight>
                  <a:srgbClr val="FFFF00"/>
                </a:highlight>
                <a:latin typeface="Arial"/>
                <a:ea typeface="Arial"/>
                <a:cs typeface="Arial"/>
                <a:sym typeface="Arial"/>
              </a:rPr>
              <a:t>buses</a:t>
            </a:r>
            <a:r>
              <a:rPr lang="en-IN" sz="2500">
                <a:highlight>
                  <a:srgbClr val="FFFFFF"/>
                </a:highlight>
                <a:latin typeface="Arial"/>
                <a:ea typeface="Arial"/>
                <a:cs typeface="Arial"/>
                <a:sym typeface="Arial"/>
              </a:rPr>
              <a:t>, with cars accounting for the largest share (241.24 million). Vans recorded 11.44 million in sales, followed by trucks (6.34 million) and buses (2.59 million). </a:t>
            </a:r>
            <a:endParaRPr sz="25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      -   China and the United States dominate EV sales across most vehicle types, followed by India. While the overall regional patterns are similar. </a:t>
            </a:r>
            <a:endParaRPr sz="2700">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       -   Germany ranks forth by India. While the overall regional </a:t>
            </a:r>
            <a:endParaRPr sz="2700">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Patterns are similar, Germany ranks fourth for cars and trucks, whereas South Korea ranks fourth for vans and buses</a:t>
            </a:r>
            <a:r>
              <a:rPr lang="en-IN" sz="2900">
                <a:highlight>
                  <a:srgbClr val="FFFFFF"/>
                </a:highlight>
                <a:latin typeface="Arial"/>
                <a:ea typeface="Arial"/>
                <a:cs typeface="Arial"/>
                <a:sym typeface="Arial"/>
              </a:rPr>
              <a:t>. </a:t>
            </a:r>
            <a:r>
              <a:rPr lang="en-IN" sz="1800">
                <a:highlight>
                  <a:srgbClr val="FFFFFF"/>
                </a:highlight>
              </a:rPr>
              <a:t> </a:t>
            </a:r>
            <a:endParaRPr sz="1800">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60" name="Google Shape;160;p22"/>
          <p:cNvSpPr txBox="1"/>
          <p:nvPr>
            <p:ph idx="1" type="body"/>
          </p:nvPr>
        </p:nvSpPr>
        <p:spPr>
          <a:xfrm>
            <a:off x="838200" y="847700"/>
            <a:ext cx="10515600" cy="5815800"/>
          </a:xfrm>
          <a:prstGeom prst="rect">
            <a:avLst/>
          </a:prstGeom>
        </p:spPr>
        <p:txBody>
          <a:bodyPr anchorCtr="0" anchor="t" bIns="45700" lIns="91425" spcFirstLastPara="1" rIns="91425" wrap="square" tIns="45700">
            <a:normAutofit/>
          </a:bodyPr>
          <a:lstStyle/>
          <a:p>
            <a:pPr indent="-374650" lvl="0" marL="685800" rtl="0" algn="l">
              <a:lnSpc>
                <a:spcPct val="115000"/>
              </a:lnSpc>
              <a:spcBef>
                <a:spcPts val="0"/>
              </a:spcBef>
              <a:spcAft>
                <a:spcPts val="0"/>
              </a:spcAft>
              <a:buSzPts val="2300"/>
              <a:buFont typeface="Roboto Serif SemiBold"/>
              <a:buChar char="➢"/>
            </a:pPr>
            <a:r>
              <a:rPr lang="en-IN" sz="2300">
                <a:highlight>
                  <a:srgbClr val="FFFFFF"/>
                </a:highlight>
                <a:latin typeface="Roboto Serif SemiBold"/>
                <a:ea typeface="Roboto Serif SemiBold"/>
                <a:cs typeface="Roboto Serif SemiBold"/>
                <a:sym typeface="Roboto Serif SemiBold"/>
              </a:rPr>
              <a:t>Distribution of EV’s by Powertrain(BEV, PHEV, FCEV, ETC) </a:t>
            </a:r>
            <a:endParaRPr sz="2300">
              <a:highlight>
                <a:srgbClr val="FFFFFF"/>
              </a:highlight>
              <a:latin typeface="Roboto Serif SemiBold"/>
              <a:ea typeface="Roboto Serif SemiBold"/>
              <a:cs typeface="Roboto Serif SemiBold"/>
              <a:sym typeface="Roboto Serif SemiBold"/>
            </a:endParaRPr>
          </a:p>
          <a:p>
            <a:pPr indent="0" lvl="0" marL="0" rtl="0" algn="l">
              <a:lnSpc>
                <a:spcPct val="115000"/>
              </a:lnSpc>
              <a:spcBef>
                <a:spcPts val="1200"/>
              </a:spcBef>
              <a:spcAft>
                <a:spcPts val="0"/>
              </a:spcAft>
              <a:buNone/>
            </a:pPr>
            <a:r>
              <a:rPr lang="en-IN" sz="2300">
                <a:highlight>
                  <a:srgbClr val="FFFFFF"/>
                </a:highlight>
              </a:rPr>
              <a:t>       - </a:t>
            </a:r>
            <a:r>
              <a:rPr lang="en-IN" sz="2300">
                <a:highlight>
                  <a:srgbClr val="FFFFFF"/>
                </a:highlight>
              </a:rPr>
              <a:t>-  </a:t>
            </a:r>
            <a:r>
              <a:rPr lang="en-IN" sz="2400">
                <a:highlight>
                  <a:srgbClr val="FFFFFF"/>
                </a:highlight>
              </a:rPr>
              <a:t> Battery Electric Vehicles(BEV’S) dominate EV’s sales with more than 80% of market share of EV vehicles, while plug-in Hybrid Vehicles(PHEV’s) contribute around 18%, and Fuel Cell Electric Vehicles(FCEV’s) accounts for less than 1%.</a:t>
            </a:r>
            <a:endParaRPr sz="2400">
              <a:highlight>
                <a:srgbClr val="FFFFFF"/>
              </a:highlight>
            </a:endParaRPr>
          </a:p>
          <a:p>
            <a:pPr indent="0" lvl="0" marL="0" rtl="0" algn="l">
              <a:lnSpc>
                <a:spcPct val="115000"/>
              </a:lnSpc>
              <a:spcBef>
                <a:spcPts val="1200"/>
              </a:spcBef>
              <a:spcAft>
                <a:spcPts val="0"/>
              </a:spcAft>
              <a:buNone/>
            </a:pPr>
            <a:r>
              <a:rPr lang="en-IN" sz="2400">
                <a:highlight>
                  <a:srgbClr val="FFFFFF"/>
                </a:highlight>
              </a:rPr>
              <a:t>  </a:t>
            </a:r>
            <a:endParaRPr sz="2400">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67" name="Google Shape;167;p23"/>
          <p:cNvSpPr txBox="1"/>
          <p:nvPr>
            <p:ph idx="1" type="body"/>
          </p:nvPr>
        </p:nvSpPr>
        <p:spPr>
          <a:xfrm>
            <a:off x="838200" y="785150"/>
            <a:ext cx="10515600" cy="53916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Roboto Serif SemiBold"/>
              <a:buChar char="➢"/>
            </a:pPr>
            <a:r>
              <a:rPr lang="en-IN" sz="2500">
                <a:highlight>
                  <a:srgbClr val="FFFFFF"/>
                </a:highlight>
                <a:latin typeface="Roboto Serif SemiBold"/>
                <a:ea typeface="Roboto Serif SemiBold"/>
                <a:cs typeface="Roboto Serif SemiBold"/>
                <a:sym typeface="Roboto Serif SemiBold"/>
              </a:rPr>
              <a:t>Combination of mode and powertrain is most dominant in each region </a:t>
            </a:r>
            <a:endParaRPr sz="2500">
              <a:highlight>
                <a:srgbClr val="FFFFFF"/>
              </a:highlight>
              <a:latin typeface="Roboto Serif SemiBold"/>
              <a:ea typeface="Roboto Serif SemiBold"/>
              <a:cs typeface="Roboto Serif SemiBold"/>
              <a:sym typeface="Roboto Serif SemiBold"/>
            </a:endParaRPr>
          </a:p>
          <a:p>
            <a:pPr indent="0" lvl="0" marL="0" rtl="0" algn="l">
              <a:lnSpc>
                <a:spcPct val="100000"/>
              </a:lnSpc>
              <a:spcBef>
                <a:spcPts val="1000"/>
              </a:spcBef>
              <a:spcAft>
                <a:spcPts val="0"/>
              </a:spcAft>
              <a:buNone/>
            </a:pPr>
            <a:r>
              <a:rPr lang="en-IN" sz="3400">
                <a:highlight>
                  <a:srgbClr val="FFFFFF"/>
                </a:highlight>
                <a:latin typeface="Arial"/>
                <a:ea typeface="Arial"/>
                <a:cs typeface="Arial"/>
                <a:sym typeface="Arial"/>
              </a:rPr>
              <a:t>          </a:t>
            </a:r>
            <a:r>
              <a:rPr lang="en-IN" sz="2500">
                <a:highlight>
                  <a:srgbClr val="FFFFFF"/>
                </a:highlight>
                <a:latin typeface="Arial"/>
                <a:ea typeface="Arial"/>
                <a:cs typeface="Arial"/>
                <a:sym typeface="Arial"/>
              </a:rPr>
              <a:t>The global EV market is dominated by BEV passenger cars, with China and the United States leading adoption across most vehicle segments, while Europe and emerging Asian markets contribute significantly to regional growth. </a:t>
            </a:r>
            <a:endParaRPr sz="2500">
              <a:highlight>
                <a:srgbClr val="FFFFFF"/>
              </a:highlight>
              <a:latin typeface="Arial"/>
              <a:ea typeface="Arial"/>
              <a:cs typeface="Arial"/>
              <a:sym typeface="Arial"/>
            </a:endParaRPr>
          </a:p>
          <a:p>
            <a:pPr indent="0" lvl="0" marL="0" rtl="0" algn="l">
              <a:spcBef>
                <a:spcPts val="1000"/>
              </a:spcBef>
              <a:spcAft>
                <a:spcPts val="0"/>
              </a:spcAft>
              <a:buNone/>
            </a:pPr>
            <a:r>
              <a:t/>
            </a:r>
            <a:endParaRPr sz="2500">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a:ea typeface="Libre Baskerville"/>
                <a:cs typeface="Libre Baskerville"/>
                <a:sym typeface="Libre Baskerville"/>
              </a:rPr>
              <a:t>1. </a:t>
            </a:r>
            <a:r>
              <a:rPr lang="en-IN" sz="2200">
                <a:solidFill>
                  <a:srgbClr val="0F4761"/>
                </a:solidFill>
                <a:highlight>
                  <a:srgbClr val="FFFFFF"/>
                </a:highlight>
                <a:latin typeface="Libre Baskerville Medium"/>
                <a:ea typeface="Libre Baskerville Medium"/>
                <a:cs typeface="Libre Baskerville Medium"/>
                <a:sym typeface="Libre Baskerville Medium"/>
              </a:rPr>
              <a:t>Dominance of BEV Technology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100">
                <a:highlight>
                  <a:srgbClr val="FFFFFF"/>
                </a:highlight>
                <a:latin typeface="Arial"/>
                <a:ea typeface="Arial"/>
                <a:cs typeface="Arial"/>
                <a:sym typeface="Arial"/>
              </a:rPr>
              <a:t>BEVs account for the majority of EV sales across all vehicle types, especially in the passenger car segment. </a:t>
            </a:r>
            <a:endParaRPr sz="2100">
              <a:highlight>
                <a:srgbClr val="FFFFFF"/>
              </a:highlight>
              <a:latin typeface="Arial"/>
              <a:ea typeface="Arial"/>
              <a:cs typeface="Arial"/>
              <a:sym typeface="Arial"/>
            </a:endParaRPr>
          </a:p>
          <a:p>
            <a:pPr indent="0" lvl="0" marL="0" rtl="0" algn="l">
              <a:spcBef>
                <a:spcPts val="1200"/>
              </a:spcBef>
              <a:spcAft>
                <a:spcPts val="0"/>
              </a:spcAft>
              <a:buNone/>
            </a:pPr>
            <a:r>
              <a:t/>
            </a:r>
            <a:endParaRPr sz="2500">
              <a:highlight>
                <a:srgbClr val="FFFFFF"/>
              </a:highlight>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838200" y="365125"/>
            <a:ext cx="10515600" cy="857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74" name="Google Shape;174;p24"/>
          <p:cNvSpPr txBox="1"/>
          <p:nvPr>
            <p:ph idx="1" type="body"/>
          </p:nvPr>
        </p:nvSpPr>
        <p:spPr>
          <a:xfrm>
            <a:off x="838200" y="785150"/>
            <a:ext cx="10515600" cy="53916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lang="en-IN" sz="2100">
                <a:solidFill>
                  <a:srgbClr val="0F4761"/>
                </a:solidFill>
                <a:highlight>
                  <a:srgbClr val="FFFFFF"/>
                </a:highlight>
                <a:latin typeface="Libre Baskerville Medium"/>
                <a:ea typeface="Libre Baskerville Medium"/>
                <a:cs typeface="Libre Baskerville Medium"/>
                <a:sym typeface="Libre Baskerville Medium"/>
              </a:rPr>
              <a:t>2. China as the Global EV Leader </a:t>
            </a:r>
            <a:endParaRPr sz="21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China consistently ranks first in nearly every powertrain and vehicle mode combination, reflecting strong government policies and manufacturing capacity. </a:t>
            </a:r>
            <a:endParaRPr sz="2300">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Medium"/>
                <a:ea typeface="Libre Baskerville Medium"/>
                <a:cs typeface="Libre Baskerville Medium"/>
                <a:sym typeface="Libre Baskerville Medium"/>
              </a:rPr>
              <a:t>3. Strong Presence of the United States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The United States ranks among the top two markets in most EV segments, particularly in cars, trucks, and vans.</a:t>
            </a:r>
            <a:r>
              <a:rPr lang="en-IN" sz="2200">
                <a:highlight>
                  <a:srgbClr val="FFFFFF"/>
                </a:highlight>
                <a:latin typeface="Libre Baskerville Medium"/>
                <a:ea typeface="Libre Baskerville Medium"/>
                <a:cs typeface="Libre Baskerville Medium"/>
                <a:sym typeface="Libre Baskerville Medium"/>
              </a:rPr>
              <a:t> </a:t>
            </a:r>
            <a:endParaRPr sz="22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Medium"/>
                <a:ea typeface="Libre Baskerville Medium"/>
                <a:cs typeface="Libre Baskerville Medium"/>
                <a:sym typeface="Libre Baskerville Medium"/>
              </a:rPr>
              <a:t>4. Growing Role of Europe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Countries like Germany, the United Kingdom, France, Sweden, and the Netherlands play significant roles in EV adoption across different segments. </a:t>
            </a:r>
            <a:endParaRPr sz="2300">
              <a:highlight>
                <a:srgbClr val="FFFFFF"/>
              </a:highlight>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733975" y="576700"/>
            <a:ext cx="10515600" cy="10725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400"/>
              </a:spcBef>
              <a:spcAft>
                <a:spcPts val="0"/>
              </a:spcAft>
              <a:buClr>
                <a:schemeClr val="dk1"/>
              </a:buClr>
              <a:buSzPct val="44196"/>
              <a:buFont typeface="Arial"/>
              <a:buNone/>
            </a:pPr>
            <a:r>
              <a:rPr lang="en-IN" sz="2489">
                <a:solidFill>
                  <a:srgbClr val="0F4761"/>
                </a:solidFill>
                <a:highlight>
                  <a:srgbClr val="FFFFFF"/>
                </a:highlight>
                <a:latin typeface="Libre Baskerville Medium"/>
                <a:ea typeface="Libre Baskerville Medium"/>
                <a:cs typeface="Libre Baskerville Medium"/>
                <a:sym typeface="Libre Baskerville Medium"/>
              </a:rPr>
              <a:t>5. Emerging Markets </a:t>
            </a:r>
            <a:endParaRPr sz="2489">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ct val="51031"/>
              <a:buFont typeface="Arial"/>
              <a:buNone/>
            </a:pPr>
            <a:r>
              <a:rPr lang="en-IN" sz="2156">
                <a:highlight>
                  <a:srgbClr val="FFFFFF"/>
                </a:highlight>
                <a:latin typeface="Arial"/>
                <a:ea typeface="Arial"/>
                <a:cs typeface="Arial"/>
                <a:sym typeface="Arial"/>
              </a:rPr>
              <a:t>India and South Korea appear frequently among leading regions, highlighting growing EV adoption in Asia outside China. </a:t>
            </a:r>
            <a:endParaRPr sz="2156">
              <a:highlight>
                <a:srgbClr val="FFFFFF"/>
              </a:highlight>
              <a:latin typeface="Arial"/>
              <a:ea typeface="Arial"/>
              <a:cs typeface="Arial"/>
              <a:sym typeface="Arial"/>
            </a:endParaRPr>
          </a:p>
          <a:p>
            <a:pPr indent="0" lvl="0" marL="0" rtl="0" algn="l">
              <a:spcBef>
                <a:spcPts val="1200"/>
              </a:spcBef>
              <a:spcAft>
                <a:spcPts val="0"/>
              </a:spcAft>
              <a:buNone/>
            </a:pPr>
            <a:r>
              <a:t/>
            </a:r>
            <a:endParaRPr/>
          </a:p>
        </p:txBody>
      </p:sp>
      <p:sp>
        <p:nvSpPr>
          <p:cNvPr id="181" name="Google Shape;181;p25"/>
          <p:cNvSpPr txBox="1"/>
          <p:nvPr>
            <p:ph idx="1" type="body"/>
          </p:nvPr>
        </p:nvSpPr>
        <p:spPr>
          <a:xfrm>
            <a:off x="838200" y="1825625"/>
            <a:ext cx="10515600" cy="5032500"/>
          </a:xfrm>
          <a:prstGeom prst="rect">
            <a:avLst/>
          </a:prstGeom>
        </p:spPr>
        <p:txBody>
          <a:bodyPr anchorCtr="0" anchor="t" bIns="45700" lIns="91425" spcFirstLastPara="1" rIns="91425" wrap="square" tIns="45700">
            <a:normAutofit lnSpcReduction="20000"/>
          </a:bodyPr>
          <a:lstStyle/>
          <a:p>
            <a:pPr indent="-387350" lvl="0" marL="457200" rtl="0" algn="l">
              <a:spcBef>
                <a:spcPts val="1000"/>
              </a:spcBef>
              <a:spcAft>
                <a:spcPts val="0"/>
              </a:spcAft>
              <a:buSzPts val="2500"/>
              <a:buFont typeface="Roboto Serif SemiBold"/>
              <a:buChar char="➢"/>
            </a:pPr>
            <a:r>
              <a:rPr lang="en-IN" sz="2500">
                <a:highlight>
                  <a:srgbClr val="FFFFFF"/>
                </a:highlight>
                <a:latin typeface="Roboto Serif SemiBold"/>
                <a:ea typeface="Roboto Serif SemiBold"/>
                <a:cs typeface="Roboto Serif SemiBold"/>
                <a:sym typeface="Roboto Serif SemiBold"/>
              </a:rPr>
              <a:t>EV Adoption Insights by Category (Historical, APS Projection, STEPS Projection) </a:t>
            </a:r>
            <a:endParaRPr sz="2500">
              <a:highlight>
                <a:srgbClr val="FFFFFF"/>
              </a:highlight>
              <a:latin typeface="Roboto Serif SemiBold"/>
              <a:ea typeface="Roboto Serif SemiBold"/>
              <a:cs typeface="Roboto Serif SemiBold"/>
              <a:sym typeface="Roboto Serif SemiBold"/>
            </a:endParaRPr>
          </a:p>
          <a:p>
            <a:pPr indent="0" lvl="0" marL="457200" rtl="0" algn="l">
              <a:spcBef>
                <a:spcPts val="1000"/>
              </a:spcBef>
              <a:spcAft>
                <a:spcPts val="0"/>
              </a:spcAft>
              <a:buNone/>
            </a:pPr>
            <a:r>
              <a:t/>
            </a:r>
            <a:endParaRPr sz="2500">
              <a:highlight>
                <a:srgbClr val="FFFFFF"/>
              </a:highlight>
              <a:latin typeface="Roboto Serif SemiBold"/>
              <a:ea typeface="Roboto Serif SemiBold"/>
              <a:cs typeface="Roboto Serif SemiBold"/>
              <a:sym typeface="Roboto Serif SemiBold"/>
            </a:endParaRPr>
          </a:p>
          <a:p>
            <a:pPr indent="-361950" lvl="0" marL="457200" rtl="0" algn="l">
              <a:lnSpc>
                <a:spcPct val="115000"/>
              </a:lnSpc>
              <a:spcBef>
                <a:spcPts val="0"/>
              </a:spcBef>
              <a:spcAft>
                <a:spcPts val="0"/>
              </a:spcAft>
              <a:buSzPts val="2100"/>
              <a:buFont typeface="Libre Baskerville Medium"/>
              <a:buChar char="●"/>
            </a:pPr>
            <a:r>
              <a:rPr lang="en-IN" sz="2100">
                <a:highlight>
                  <a:srgbClr val="FFFFFF"/>
                </a:highlight>
                <a:latin typeface="Libre Baskerville Medium"/>
                <a:ea typeface="Libre Baskerville Medium"/>
                <a:cs typeface="Libre Baskerville Medium"/>
                <a:sym typeface="Libre Baskerville Medium"/>
              </a:rPr>
              <a:t>Historical EV Adoption  </a:t>
            </a:r>
            <a:endParaRPr sz="2100">
              <a:highlight>
                <a:srgbClr val="FFFFFF"/>
              </a:highlight>
              <a:latin typeface="Libre Baskerville Medium"/>
              <a:ea typeface="Libre Baskerville Medium"/>
              <a:cs typeface="Libre Baskerville Medium"/>
              <a:sym typeface="Libre Baskerville Medium"/>
            </a:endParaRPr>
          </a:p>
          <a:p>
            <a:pPr indent="0" lvl="0" marL="457200" rtl="0" algn="l">
              <a:lnSpc>
                <a:spcPct val="115000"/>
              </a:lnSpc>
              <a:spcBef>
                <a:spcPts val="0"/>
              </a:spcBef>
              <a:spcAft>
                <a:spcPts val="0"/>
              </a:spcAft>
              <a:buNone/>
            </a:pPr>
            <a:r>
              <a:t/>
            </a:r>
            <a:endParaRPr sz="1800">
              <a:highlight>
                <a:srgbClr val="FFFFFF"/>
              </a:highlight>
              <a:latin typeface="Arial"/>
              <a:ea typeface="Arial"/>
              <a:cs typeface="Arial"/>
              <a:sym typeface="Arial"/>
            </a:endParaRPr>
          </a:p>
          <a:p>
            <a:pPr indent="0" lvl="0" marL="457200" rtl="0" algn="l">
              <a:lnSpc>
                <a:spcPct val="115000"/>
              </a:lnSpc>
              <a:spcBef>
                <a:spcPts val="0"/>
              </a:spcBef>
              <a:spcAft>
                <a:spcPts val="0"/>
              </a:spcAft>
              <a:buNone/>
            </a:pPr>
            <a:r>
              <a:rPr lang="en-IN" sz="1800">
                <a:highlight>
                  <a:srgbClr val="FFFFFF"/>
                </a:highlight>
                <a:latin typeface="Arial"/>
                <a:ea typeface="Arial"/>
                <a:cs typeface="Arial"/>
                <a:sym typeface="Arial"/>
              </a:rPr>
              <a:t>Passenger cars dominated EV sales historically, with a total of 40.36 million units sold. </a:t>
            </a:r>
            <a:r>
              <a:rPr b="1" lang="en-IN" sz="1800">
                <a:highlight>
                  <a:srgbClr val="FFFFFF"/>
                </a:highlight>
                <a:latin typeface="Arial"/>
                <a:ea typeface="Arial"/>
                <a:cs typeface="Arial"/>
                <a:sym typeface="Arial"/>
              </a:rPr>
              <a:t>This indicates that consumer passenger vehicles are the primary driver of EV market growth compared to buses, trucks, and vans.</a:t>
            </a:r>
            <a:r>
              <a:rPr lang="en-IN" sz="1800">
                <a:highlight>
                  <a:srgbClr val="FFFFFF"/>
                </a:highlight>
                <a:latin typeface="Arial"/>
                <a:ea typeface="Arial"/>
                <a:cs typeface="Arial"/>
                <a:sym typeface="Arial"/>
              </a:rPr>
              <a:t> </a:t>
            </a:r>
            <a:endParaRPr sz="1800">
              <a:highlight>
                <a:srgbClr val="FFFFFF"/>
              </a:highlight>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IN" sz="1800">
                <a:highlight>
                  <a:srgbClr val="FFFFFF"/>
                </a:highlight>
                <a:latin typeface="Arial"/>
                <a:ea typeface="Arial"/>
                <a:cs typeface="Arial"/>
                <a:sym typeface="Arial"/>
              </a:rPr>
              <a:t> </a:t>
            </a:r>
            <a:endParaRPr sz="18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800">
                <a:highlight>
                  <a:srgbClr val="FFFFFF"/>
                </a:highlight>
                <a:latin typeface="Arial"/>
                <a:ea typeface="Arial"/>
                <a:cs typeface="Arial"/>
                <a:sym typeface="Arial"/>
              </a:rPr>
              <a:t>The regions with the </a:t>
            </a:r>
            <a:r>
              <a:rPr b="1" lang="en-IN" sz="1800">
                <a:highlight>
                  <a:srgbClr val="FFFFFF"/>
                </a:highlight>
                <a:latin typeface="Arial"/>
                <a:ea typeface="Arial"/>
                <a:cs typeface="Arial"/>
                <a:sym typeface="Arial"/>
              </a:rPr>
              <a:t>highest EV adoption historically</a:t>
            </a:r>
            <a:r>
              <a:rPr lang="en-IN" sz="1800">
                <a:highlight>
                  <a:srgbClr val="FFFFFF"/>
                </a:highlight>
                <a:latin typeface="Arial"/>
                <a:ea typeface="Arial"/>
                <a:cs typeface="Arial"/>
                <a:sym typeface="Arial"/>
              </a:rPr>
              <a:t> are</a:t>
            </a:r>
            <a:r>
              <a:rPr lang="en-IN" sz="1600">
                <a:highlight>
                  <a:srgbClr val="FFFFFF"/>
                </a:highlight>
                <a:latin typeface="Arial"/>
                <a:ea typeface="Arial"/>
                <a:cs typeface="Arial"/>
                <a:sym typeface="Arial"/>
              </a:rPr>
              <a:t>: </a:t>
            </a:r>
            <a:endParaRPr sz="16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a:pPr>
            <a:r>
              <a:rPr lang="en-IN" sz="1800">
                <a:highlight>
                  <a:srgbClr val="FFFFFF"/>
                </a:highlight>
                <a:latin typeface="Arial"/>
                <a:ea typeface="Arial"/>
                <a:cs typeface="Arial"/>
                <a:sym typeface="Arial"/>
              </a:rPr>
              <a:t>China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2"/>
            </a:pPr>
            <a:r>
              <a:rPr lang="en-IN" sz="1800">
                <a:highlight>
                  <a:srgbClr val="FFFFFF"/>
                </a:highlight>
                <a:latin typeface="Arial"/>
                <a:ea typeface="Arial"/>
                <a:cs typeface="Arial"/>
                <a:sym typeface="Arial"/>
              </a:rPr>
              <a:t>United States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3"/>
            </a:pPr>
            <a:r>
              <a:rPr lang="en-IN" sz="1800">
                <a:highlight>
                  <a:srgbClr val="FFFFFF"/>
                </a:highlight>
                <a:latin typeface="Arial"/>
                <a:ea typeface="Arial"/>
                <a:cs typeface="Arial"/>
                <a:sym typeface="Arial"/>
              </a:rPr>
              <a:t>Germany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4"/>
            </a:pPr>
            <a:r>
              <a:rPr lang="en-IN" sz="1800">
                <a:highlight>
                  <a:srgbClr val="FFFFFF"/>
                </a:highlight>
                <a:latin typeface="Arial"/>
                <a:ea typeface="Arial"/>
                <a:cs typeface="Arial"/>
                <a:sym typeface="Arial"/>
              </a:rPr>
              <a:t>France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5"/>
            </a:pPr>
            <a:r>
              <a:rPr lang="en-IN" sz="1800">
                <a:highlight>
                  <a:srgbClr val="FFFFFF"/>
                </a:highlight>
                <a:latin typeface="Arial"/>
                <a:ea typeface="Arial"/>
                <a:cs typeface="Arial"/>
                <a:sym typeface="Arial"/>
              </a:rPr>
              <a:t>United Kingdom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6"/>
            </a:pPr>
            <a:r>
              <a:rPr lang="en-IN" sz="1800">
                <a:highlight>
                  <a:srgbClr val="FFFFFF"/>
                </a:highlight>
                <a:latin typeface="Arial"/>
                <a:ea typeface="Arial"/>
                <a:cs typeface="Arial"/>
                <a:sym typeface="Arial"/>
              </a:rPr>
              <a:t>Norway </a:t>
            </a:r>
            <a:endParaRPr sz="1800">
              <a:highlight>
                <a:srgbClr val="FFFFFF"/>
              </a:highlight>
              <a:latin typeface="Arial"/>
              <a:ea typeface="Arial"/>
              <a:cs typeface="Arial"/>
              <a:sym typeface="Arial"/>
            </a:endParaRPr>
          </a:p>
          <a:p>
            <a:pPr indent="0" lvl="0" marL="0" rtl="0" algn="l">
              <a:spcBef>
                <a:spcPts val="1000"/>
              </a:spcBef>
              <a:spcAft>
                <a:spcPts val="0"/>
              </a:spcAft>
              <a:buNone/>
            </a:pPr>
            <a:r>
              <a:t/>
            </a:r>
            <a:endParaRPr sz="2100">
              <a:highlight>
                <a:srgbClr val="FFFFFF"/>
              </a:highlight>
              <a:latin typeface="Roboto Serif SemiBold"/>
              <a:ea typeface="Roboto Serif SemiBold"/>
              <a:cs typeface="Roboto Serif SemiBold"/>
              <a:sym typeface="Roboto Serif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2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55600" lvl="0" marL="685800" rtl="0" algn="l">
              <a:lnSpc>
                <a:spcPct val="115000"/>
              </a:lnSpc>
              <a:spcBef>
                <a:spcPts val="0"/>
              </a:spcBef>
              <a:spcAft>
                <a:spcPts val="0"/>
              </a:spcAft>
              <a:buSzPts val="2000"/>
              <a:buFont typeface="Libre Baskerville Medium"/>
              <a:buChar char="●"/>
            </a:pPr>
            <a:r>
              <a:rPr lang="en-IN" sz="1800">
                <a:highlight>
                  <a:srgbClr val="FFFFFF"/>
                </a:highlight>
                <a:latin typeface="Libre Baskerville Medium"/>
                <a:ea typeface="Libre Baskerville Medium"/>
                <a:cs typeface="Libre Baskerville Medium"/>
                <a:sym typeface="Libre Baskerville Medium"/>
              </a:rPr>
              <a:t>Projected EV Adoption – APS Scenario </a:t>
            </a:r>
            <a:endParaRPr sz="1800">
              <a:highlight>
                <a:srgbClr val="FFFFFF"/>
              </a:highlight>
              <a:latin typeface="Libre Baskerville Medium"/>
              <a:ea typeface="Libre Baskerville Medium"/>
              <a:cs typeface="Libre Baskerville Medium"/>
              <a:sym typeface="Libre Baskerville Medium"/>
            </a:endParaRPr>
          </a:p>
          <a:p>
            <a:pPr indent="0" lvl="0" marL="457200" rtl="0" algn="l">
              <a:lnSpc>
                <a:spcPct val="115000"/>
              </a:lnSpc>
              <a:spcBef>
                <a:spcPts val="0"/>
              </a:spcBef>
              <a:spcAft>
                <a:spcPts val="0"/>
              </a:spcAft>
              <a:buNone/>
            </a:pPr>
            <a:r>
              <a:t/>
            </a:r>
            <a:endParaRPr sz="18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0"/>
              </a:spcBef>
              <a:spcAft>
                <a:spcPts val="0"/>
              </a:spcAft>
              <a:buNone/>
            </a:pPr>
            <a:r>
              <a:rPr b="1" lang="en-IN" sz="1900">
                <a:highlight>
                  <a:srgbClr val="FFFFFF"/>
                </a:highlight>
                <a:latin typeface="Arial"/>
                <a:ea typeface="Arial"/>
                <a:cs typeface="Arial"/>
                <a:sym typeface="Arial"/>
              </a:rPr>
              <a:t>Battery Electric Vehicles (BEVs)</a:t>
            </a:r>
            <a:r>
              <a:rPr lang="en-IN" sz="1900">
                <a:highlight>
                  <a:srgbClr val="FFFFFF"/>
                </a:highlight>
                <a:latin typeface="Arial"/>
                <a:ea typeface="Arial"/>
                <a:cs typeface="Arial"/>
                <a:sym typeface="Arial"/>
              </a:rPr>
              <a:t> are expected to experience the </a:t>
            </a:r>
            <a:r>
              <a:rPr b="1" lang="en-IN" sz="1900">
                <a:highlight>
                  <a:srgbClr val="FFFFFF"/>
                </a:highlight>
                <a:latin typeface="Arial"/>
                <a:ea typeface="Arial"/>
                <a:cs typeface="Arial"/>
                <a:sym typeface="Arial"/>
              </a:rPr>
              <a:t>highest growth under the APS scenario</a:t>
            </a:r>
            <a:r>
              <a:rPr lang="en-IN" sz="1900">
                <a:highlight>
                  <a:srgbClr val="FFFFFF"/>
                </a:highlight>
                <a:latin typeface="Arial"/>
                <a:ea typeface="Arial"/>
                <a:cs typeface="Arial"/>
                <a:sym typeface="Arial"/>
              </a:rPr>
              <a:t>, reaching </a:t>
            </a:r>
            <a:r>
              <a:rPr b="1" lang="en-IN" sz="1900">
                <a:highlight>
                  <a:srgbClr val="FFFFFF"/>
                </a:highlight>
                <a:latin typeface="Arial"/>
                <a:ea typeface="Arial"/>
                <a:cs typeface="Arial"/>
                <a:sym typeface="Arial"/>
              </a:rPr>
              <a:t>93.96 million units</a:t>
            </a:r>
            <a:r>
              <a:rPr lang="en-IN"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900">
                <a:highlight>
                  <a:srgbClr val="FFFFFF"/>
                </a:highlight>
                <a:latin typeface="Arial"/>
                <a:ea typeface="Arial"/>
                <a:cs typeface="Arial"/>
                <a:sym typeface="Arial"/>
              </a:rPr>
              <a:t>    –   </a:t>
            </a:r>
            <a:r>
              <a:rPr i="1" lang="en-IN" sz="2100">
                <a:highlight>
                  <a:srgbClr val="FFFFFF"/>
                </a:highlight>
                <a:latin typeface="Arial"/>
                <a:ea typeface="Arial"/>
                <a:cs typeface="Arial"/>
                <a:sym typeface="Arial"/>
              </a:rPr>
              <a:t>Growth Trend in FCEV Powertrain </a:t>
            </a:r>
            <a:endParaRPr i="1" sz="21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900">
                <a:highlight>
                  <a:srgbClr val="FFFFFF"/>
                </a:highlight>
                <a:latin typeface="Arial"/>
                <a:ea typeface="Arial"/>
                <a:cs typeface="Arial"/>
                <a:sym typeface="Arial"/>
              </a:rPr>
              <a:t> While FCEV cars remain in the primary segment, </a:t>
            </a:r>
            <a:r>
              <a:rPr b="1" lang="en-IN" sz="1900">
                <a:highlight>
                  <a:srgbClr val="FFFFFF"/>
                </a:highlight>
                <a:latin typeface="Arial"/>
                <a:ea typeface="Arial"/>
                <a:cs typeface="Arial"/>
                <a:sym typeface="Arial"/>
              </a:rPr>
              <a:t>hydrogen-powered trucks are expected to grow rapidly</a:t>
            </a:r>
            <a:r>
              <a:rPr lang="en-IN" sz="1900">
                <a:highlight>
                  <a:srgbClr val="FFFFFF"/>
                </a:highlight>
                <a:latin typeface="Arial"/>
                <a:ea typeface="Arial"/>
                <a:cs typeface="Arial"/>
                <a:sym typeface="Arial"/>
              </a:rPr>
              <a:t>, likely due to their suitability for </a:t>
            </a:r>
            <a:r>
              <a:rPr b="1" lang="en-IN" sz="1900">
                <a:highlight>
                  <a:srgbClr val="FFFFFF"/>
                </a:highlight>
                <a:latin typeface="Arial"/>
                <a:ea typeface="Arial"/>
                <a:cs typeface="Arial"/>
                <a:sym typeface="Arial"/>
              </a:rPr>
              <a:t>long-distance freight transportation</a:t>
            </a:r>
            <a:r>
              <a:rPr lang="en-IN"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indent="0" lvl="0" marL="0" rtl="0" algn="l">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600"/>
              <a:t>.</a:t>
            </a:r>
            <a:endParaRPr sz="600"/>
          </a:p>
        </p:txBody>
      </p:sp>
      <p:sp>
        <p:nvSpPr>
          <p:cNvPr id="195" name="Google Shape;195;p27"/>
          <p:cNvSpPr txBox="1"/>
          <p:nvPr>
            <p:ph idx="1" type="body"/>
          </p:nvPr>
        </p:nvSpPr>
        <p:spPr>
          <a:xfrm>
            <a:off x="838200" y="472475"/>
            <a:ext cx="10515600" cy="6253500"/>
          </a:xfrm>
          <a:prstGeom prst="rect">
            <a:avLst/>
          </a:prstGeom>
        </p:spPr>
        <p:txBody>
          <a:bodyPr anchorCtr="0" anchor="t" bIns="45700" lIns="91425" spcFirstLastPara="1" rIns="91425" wrap="square" tIns="45700">
            <a:normAutofit lnSpcReduction="10000"/>
          </a:bodyPr>
          <a:lstStyle/>
          <a:p>
            <a:pPr indent="0" lvl="0" marL="685800" rtl="0" algn="l">
              <a:lnSpc>
                <a:spcPct val="115000"/>
              </a:lnSpc>
              <a:spcBef>
                <a:spcPts val="0"/>
              </a:spcBef>
              <a:spcAft>
                <a:spcPts val="0"/>
              </a:spcAft>
              <a:buClr>
                <a:schemeClr val="dk1"/>
              </a:buClr>
              <a:buSzPts val="1100"/>
              <a:buFont typeface="Arial"/>
              <a:buNone/>
            </a:pPr>
            <a:r>
              <a:rPr lang="en-IN" sz="1200">
                <a:highlight>
                  <a:srgbClr val="FFFFFF"/>
                </a:highlight>
                <a:latin typeface="Times New Roman"/>
                <a:ea typeface="Times New Roman"/>
                <a:cs typeface="Times New Roman"/>
                <a:sym typeface="Times New Roman"/>
              </a:rPr>
              <a:t> </a:t>
            </a:r>
            <a:endParaRPr sz="1200">
              <a:highlight>
                <a:srgbClr val="FFFFFF"/>
              </a:highlight>
              <a:latin typeface="Times New Roman"/>
              <a:ea typeface="Times New Roman"/>
              <a:cs typeface="Times New Roman"/>
              <a:sym typeface="Times New Roman"/>
            </a:endParaRPr>
          </a:p>
          <a:p>
            <a:pPr indent="-368300" lvl="0" marL="914400" rtl="0" algn="l">
              <a:lnSpc>
                <a:spcPct val="115000"/>
              </a:lnSpc>
              <a:spcBef>
                <a:spcPts val="0"/>
              </a:spcBef>
              <a:spcAft>
                <a:spcPts val="0"/>
              </a:spcAft>
              <a:buSzPts val="2200"/>
              <a:buFont typeface="Libre Baskerville Medium"/>
              <a:buChar char="●"/>
            </a:pPr>
            <a:r>
              <a:rPr lang="en-IN" sz="2200">
                <a:highlight>
                  <a:srgbClr val="FFFFFF"/>
                </a:highlight>
                <a:latin typeface="Libre Baskerville Medium"/>
                <a:ea typeface="Libre Baskerville Medium"/>
                <a:cs typeface="Libre Baskerville Medium"/>
                <a:sym typeface="Libre Baskerville Medium"/>
              </a:rPr>
              <a:t>Projected EV Adoption – STEPS Scenario </a:t>
            </a:r>
            <a:endParaRPr sz="22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Clr>
                <a:schemeClr val="dk1"/>
              </a:buClr>
              <a:buSzPts val="1100"/>
              <a:buFont typeface="Arial"/>
              <a:buNone/>
            </a:pPr>
            <a:r>
              <a:rPr lang="en-IN" sz="1800">
                <a:highlight>
                  <a:srgbClr val="FFFFFF"/>
                </a:highlight>
              </a:rPr>
              <a:t>         </a:t>
            </a:r>
            <a:r>
              <a:rPr lang="en-IN" sz="2600">
                <a:highlight>
                  <a:srgbClr val="FFFFFF"/>
                </a:highlight>
                <a:latin typeface="Arial"/>
                <a:ea typeface="Arial"/>
                <a:cs typeface="Arial"/>
                <a:sym typeface="Arial"/>
              </a:rPr>
              <a:t>- </a:t>
            </a:r>
            <a:r>
              <a:rPr lang="en-IN" sz="2000">
                <a:highlight>
                  <a:srgbClr val="FFFFFF"/>
                </a:highlight>
                <a:latin typeface="Arial"/>
                <a:ea typeface="Arial"/>
                <a:cs typeface="Arial"/>
                <a:sym typeface="Arial"/>
              </a:rPr>
              <a:t>Under the STEPS scenario, which assumes current policies remain unchanged, the                  growth pattern differs. </a:t>
            </a:r>
            <a:endParaRPr sz="20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000">
                <a:highlight>
                  <a:srgbClr val="FFFFFF"/>
                </a:highlight>
                <a:latin typeface="Arial"/>
                <a:ea typeface="Arial"/>
                <a:cs typeface="Arial"/>
                <a:sym typeface="Arial"/>
              </a:rPr>
              <a:t>       -  </a:t>
            </a:r>
            <a:r>
              <a:rPr lang="en-IN" sz="2000">
                <a:highlight>
                  <a:srgbClr val="FFFF00"/>
                </a:highlight>
                <a:latin typeface="Arial"/>
                <a:ea typeface="Arial"/>
                <a:cs typeface="Arial"/>
                <a:sym typeface="Arial"/>
              </a:rPr>
              <a:t>Hydrogen trucks</a:t>
            </a:r>
            <a:r>
              <a:rPr lang="en-IN" sz="2000">
                <a:highlight>
                  <a:srgbClr val="FFFFFF"/>
                </a:highlight>
                <a:latin typeface="Arial"/>
                <a:ea typeface="Arial"/>
                <a:cs typeface="Arial"/>
                <a:sym typeface="Arial"/>
              </a:rPr>
              <a:t> are expected to dominate the FCEV segment under current policies, reflecting their potential in heavy-duty transport and logistics sectors.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None/>
            </a:pPr>
            <a:r>
              <a:rPr lang="en-IN" sz="2000">
                <a:highlight>
                  <a:srgbClr val="FFFFFF"/>
                </a:highlight>
                <a:latin typeface="Arial"/>
                <a:ea typeface="Arial"/>
                <a:cs typeface="Arial"/>
                <a:sym typeface="Arial"/>
              </a:rPr>
              <a:t>   –</a:t>
            </a:r>
            <a:r>
              <a:rPr lang="en-IN" sz="2000">
                <a:highlight>
                  <a:srgbClr val="FFFFFF"/>
                </a:highlight>
                <a:latin typeface="Arial"/>
                <a:ea typeface="Arial"/>
                <a:cs typeface="Arial"/>
                <a:sym typeface="Arial"/>
              </a:rPr>
              <a:t> </a:t>
            </a:r>
            <a:r>
              <a:rPr lang="en-IN" sz="2000">
                <a:highlight>
                  <a:srgbClr val="FFFF00"/>
                </a:highlight>
                <a:latin typeface="Arial"/>
                <a:ea typeface="Arial"/>
                <a:cs typeface="Arial"/>
                <a:sym typeface="Arial"/>
              </a:rPr>
              <a:t>Hydrogen vans</a:t>
            </a:r>
            <a:r>
              <a:rPr lang="en-IN" sz="2000">
                <a:highlight>
                  <a:srgbClr val="FFFFFF"/>
                </a:highlight>
                <a:latin typeface="Arial"/>
                <a:ea typeface="Arial"/>
                <a:cs typeface="Arial"/>
                <a:sym typeface="Arial"/>
              </a:rPr>
              <a:t> are also projected to gain adoption, particularly in commercial delivery operations.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None/>
            </a:pPr>
            <a:r>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Clr>
                <a:schemeClr val="dk1"/>
              </a:buClr>
              <a:buSzPts val="1100"/>
              <a:buFont typeface="Arial"/>
              <a:buNone/>
            </a:pPr>
            <a:r>
              <a:rPr b="1" lang="en-IN" sz="2500">
                <a:highlight>
                  <a:srgbClr val="C0C0C0"/>
                </a:highlight>
                <a:latin typeface="Times New Roman"/>
                <a:ea typeface="Times New Roman"/>
                <a:cs typeface="Times New Roman"/>
                <a:sym typeface="Times New Roman"/>
              </a:rPr>
              <a:t>Overall, the EV market is expected to continue expanding, with BEVs dominating passenger vehicles, while hydrogen-powered trucks and commercial vehicles emerge as important alternatives in the future transportation ecosystem.</a:t>
            </a:r>
            <a:r>
              <a:rPr lang="en-IN" sz="2500">
                <a:highlight>
                  <a:srgbClr val="C0C0C0"/>
                </a:highlight>
                <a:latin typeface="Times New Roman"/>
                <a:ea typeface="Times New Roman"/>
                <a:cs typeface="Times New Roman"/>
                <a:sym typeface="Times New Roman"/>
              </a:rPr>
              <a:t> </a:t>
            </a:r>
            <a:endParaRPr sz="2900">
              <a:highlight>
                <a:srgbClr val="C0C0C0"/>
              </a:highlight>
              <a:latin typeface="Arial"/>
              <a:ea typeface="Arial"/>
              <a:cs typeface="Arial"/>
              <a:sym typeface="Arial"/>
            </a:endParaRPr>
          </a:p>
          <a:p>
            <a:pPr indent="0" lvl="0" marL="0" rtl="0" algn="l">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838200" y="365125"/>
            <a:ext cx="10515600" cy="5034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sz="600"/>
          </a:p>
        </p:txBody>
      </p:sp>
      <p:sp>
        <p:nvSpPr>
          <p:cNvPr id="202" name="Google Shape;202;p28"/>
          <p:cNvSpPr txBox="1"/>
          <p:nvPr>
            <p:ph idx="1" type="body"/>
          </p:nvPr>
        </p:nvSpPr>
        <p:spPr>
          <a:xfrm>
            <a:off x="692300" y="555875"/>
            <a:ext cx="10515600" cy="6086700"/>
          </a:xfrm>
          <a:prstGeom prst="rect">
            <a:avLst/>
          </a:prstGeom>
        </p:spPr>
        <p:txBody>
          <a:bodyPr anchorCtr="0" anchor="t" bIns="45700" lIns="91425" spcFirstLastPara="1" rIns="91425" wrap="square" tIns="45700">
            <a:normAutofit lnSpcReduction="10000"/>
          </a:bodyPr>
          <a:lstStyle/>
          <a:p>
            <a:pPr indent="-374650" lvl="0" marL="457200" rtl="0" algn="l">
              <a:spcBef>
                <a:spcPts val="1000"/>
              </a:spcBef>
              <a:spcAft>
                <a:spcPts val="0"/>
              </a:spcAft>
              <a:buSzPts val="2300"/>
              <a:buFont typeface="Roboto Serif SemiBold"/>
              <a:buChar char="➢"/>
            </a:pPr>
            <a:r>
              <a:rPr lang="en-IN" sz="2300">
                <a:highlight>
                  <a:srgbClr val="FFFFFF"/>
                </a:highlight>
                <a:latin typeface="Roboto Serif SemiBold"/>
                <a:ea typeface="Roboto Serif SemiBold"/>
                <a:cs typeface="Roboto Serif SemiBold"/>
                <a:sym typeface="Roboto Serif SemiBold"/>
              </a:rPr>
              <a:t>EV Sales Trend Insights </a:t>
            </a:r>
            <a:endParaRPr sz="2300">
              <a:highlight>
                <a:srgbClr val="FFFFFF"/>
              </a:highlight>
              <a:latin typeface="Roboto Serif SemiBold"/>
              <a:ea typeface="Roboto Serif SemiBold"/>
              <a:cs typeface="Roboto Serif SemiBold"/>
              <a:sym typeface="Roboto Serif SemiBold"/>
            </a:endParaRPr>
          </a:p>
          <a:p>
            <a:pPr indent="0" lvl="0" marL="457200" rtl="0" algn="l">
              <a:spcBef>
                <a:spcPts val="1000"/>
              </a:spcBef>
              <a:spcAft>
                <a:spcPts val="0"/>
              </a:spcAft>
              <a:buNone/>
            </a:pPr>
            <a:r>
              <a:rPr lang="en-IN" sz="2300">
                <a:highlight>
                  <a:srgbClr val="FFFFFF"/>
                </a:highlight>
                <a:latin typeface="Roboto Serif SemiBold"/>
                <a:ea typeface="Roboto Serif SemiBold"/>
                <a:cs typeface="Roboto Serif SemiBold"/>
                <a:sym typeface="Roboto Serif SemiBold"/>
              </a:rPr>
              <a:t>-</a:t>
            </a:r>
            <a:r>
              <a:rPr i="1" lang="en-IN" sz="2600">
                <a:highlight>
                  <a:srgbClr val="FFFFFF"/>
                </a:highlight>
                <a:latin typeface="Libre Baskerville Medium"/>
                <a:ea typeface="Libre Baskerville Medium"/>
                <a:cs typeface="Libre Baskerville Medium"/>
                <a:sym typeface="Libre Baskerville Medium"/>
              </a:rPr>
              <a:t> </a:t>
            </a:r>
            <a:r>
              <a:rPr i="1" lang="en-IN" sz="1900">
                <a:highlight>
                  <a:srgbClr val="FFFFFF"/>
                </a:highlight>
                <a:latin typeface="Libre Baskerville Medium"/>
                <a:ea typeface="Libre Baskerville Medium"/>
                <a:cs typeface="Libre Baskerville Medium"/>
                <a:sym typeface="Libre Baskerville Medium"/>
              </a:rPr>
              <a:t>Early Adoption Phase (2010) </a:t>
            </a:r>
            <a:endParaRPr i="1" sz="19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None/>
            </a:pPr>
            <a:r>
              <a:rPr lang="en-IN" sz="2100">
                <a:highlight>
                  <a:srgbClr val="FFFFFF"/>
                </a:highlight>
                <a:latin typeface="Arial"/>
                <a:ea typeface="Arial"/>
                <a:cs typeface="Arial"/>
                <a:sym typeface="Arial"/>
              </a:rPr>
              <a:t>In 2010, global EV sales were 9,576 units ( 0.01 million), indicating that the EV market was in its very early stage with minimal adoption.</a:t>
            </a:r>
            <a:r>
              <a:rPr lang="en-IN" sz="1400">
                <a:highlight>
                  <a:srgbClr val="FFFFFF"/>
                </a:highlight>
              </a:rPr>
              <a:t> </a:t>
            </a:r>
            <a:endParaRPr sz="1400">
              <a:highlight>
                <a:srgbClr val="FFFFFF"/>
              </a:highlight>
            </a:endParaRPr>
          </a:p>
          <a:p>
            <a:pPr indent="0" lvl="0" marL="457200" rtl="0" algn="l">
              <a:lnSpc>
                <a:spcPct val="115000"/>
              </a:lnSpc>
              <a:spcBef>
                <a:spcPts val="1200"/>
              </a:spcBef>
              <a:spcAft>
                <a:spcPts val="0"/>
              </a:spcAft>
              <a:buNone/>
            </a:pPr>
            <a:r>
              <a:rPr lang="en-IN" sz="1800">
                <a:highlight>
                  <a:srgbClr val="FFFFFF"/>
                </a:highlight>
                <a:latin typeface="Libre Baskerville Medium"/>
                <a:ea typeface="Libre Baskerville Medium"/>
                <a:cs typeface="Libre Baskerville Medium"/>
                <a:sym typeface="Libre Baskerville Medium"/>
              </a:rPr>
              <a:t>-</a:t>
            </a:r>
            <a:r>
              <a:rPr i="1" lang="en-IN" sz="1800">
                <a:highlight>
                  <a:srgbClr val="FFFFFF"/>
                </a:highlight>
                <a:latin typeface="Libre Baskerville Medium"/>
                <a:ea typeface="Libre Baskerville Medium"/>
                <a:cs typeface="Libre Baskerville Medium"/>
                <a:sym typeface="Libre Baskerville Medium"/>
              </a:rPr>
              <a:t> </a:t>
            </a:r>
            <a:r>
              <a:rPr i="1" lang="en-IN" sz="1900">
                <a:highlight>
                  <a:srgbClr val="FFFFFF"/>
                </a:highlight>
                <a:latin typeface="Libre Baskerville Medium"/>
                <a:ea typeface="Libre Baskerville Medium"/>
                <a:cs typeface="Libre Baskerville Medium"/>
                <a:sym typeface="Libre Baskerville Medium"/>
              </a:rPr>
              <a:t>Gradual Growth Phase (2010–2017) </a:t>
            </a:r>
            <a:endParaRPr i="1" sz="1900">
              <a:highlight>
                <a:srgbClr val="FFFFFF"/>
              </a:highlight>
              <a:latin typeface="Libre Baskerville Medium"/>
              <a:ea typeface="Libre Baskerville Medium"/>
              <a:cs typeface="Libre Baskerville Medium"/>
              <a:sym typeface="Libre Baskerville Medium"/>
            </a:endParaRPr>
          </a:p>
          <a:p>
            <a:pPr indent="0" lvl="0" marL="0" rtl="0" algn="l">
              <a:lnSpc>
                <a:spcPct val="100000"/>
              </a:lnSpc>
              <a:spcBef>
                <a:spcPts val="1200"/>
              </a:spcBef>
              <a:spcAft>
                <a:spcPts val="0"/>
              </a:spcAft>
              <a:buNone/>
            </a:pPr>
            <a:r>
              <a:rPr lang="en-IN" sz="2000">
                <a:highlight>
                  <a:srgbClr val="FFFFFF"/>
                </a:highlight>
                <a:latin typeface="Arial"/>
                <a:ea typeface="Arial"/>
                <a:cs typeface="Arial"/>
                <a:sym typeface="Arial"/>
              </a:rPr>
              <a:t>By 2017, EV sales increased to 1,212,711 units (≈ 1.21 million). This shows that EV adoption gradually increased during this period, driven by improving battery technology and early government incentives.</a:t>
            </a:r>
            <a:r>
              <a:rPr lang="en-IN" sz="1600">
                <a:highlight>
                  <a:srgbClr val="FFFFFF"/>
                </a:highlight>
                <a:latin typeface="Arial"/>
                <a:ea typeface="Arial"/>
                <a:cs typeface="Arial"/>
                <a:sym typeface="Arial"/>
              </a:rPr>
              <a:t> </a:t>
            </a:r>
            <a:endParaRPr sz="16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i="1" lang="en-IN" sz="2000">
                <a:highlight>
                  <a:srgbClr val="FFFFFF"/>
                </a:highlight>
                <a:latin typeface="Libre Baskerville Medium"/>
                <a:ea typeface="Libre Baskerville Medium"/>
                <a:cs typeface="Libre Baskerville Medium"/>
                <a:sym typeface="Libre Baskerville Medium"/>
              </a:rPr>
              <a:t>      -  Acceleration Phase (2017–2020) </a:t>
            </a:r>
            <a:endParaRPr i="1" sz="20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None/>
            </a:pPr>
            <a:r>
              <a:rPr lang="en-IN" sz="2200">
                <a:highlight>
                  <a:srgbClr val="FFFFFF"/>
                </a:highlight>
                <a:latin typeface="Arial"/>
                <a:ea typeface="Arial"/>
                <a:cs typeface="Arial"/>
                <a:sym typeface="Arial"/>
              </a:rPr>
              <a:t>EV sales surged to  6.22 million by 2020. </a:t>
            </a:r>
            <a:endParaRPr sz="22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lang="en-IN" sz="2200">
                <a:highlight>
                  <a:srgbClr val="FFFFFF"/>
                </a:highlight>
                <a:latin typeface="Arial"/>
                <a:ea typeface="Arial"/>
                <a:cs typeface="Arial"/>
                <a:sym typeface="Arial"/>
              </a:rPr>
              <a:t>This represents a significant increase compared to 2017, showing stronger market acceptance. </a:t>
            </a:r>
            <a:endParaRPr sz="2200">
              <a:highlight>
                <a:srgbClr val="FFFFFF"/>
              </a:highlight>
              <a:latin typeface="Arial"/>
              <a:ea typeface="Arial"/>
              <a:cs typeface="Arial"/>
              <a:sym typeface="Arial"/>
            </a:endParaRPr>
          </a:p>
          <a:p>
            <a:pPr indent="0" lvl="0" marL="0" rtl="0" algn="l">
              <a:lnSpc>
                <a:spcPct val="100000"/>
              </a:lnSpc>
              <a:spcBef>
                <a:spcPts val="1200"/>
              </a:spcBef>
              <a:spcAft>
                <a:spcPts val="0"/>
              </a:spcAft>
              <a:buNone/>
            </a:pPr>
            <a:r>
              <a:t/>
            </a:r>
            <a:endParaRPr sz="16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highlight>
                <a:srgbClr val="FFFFFF"/>
              </a:highlight>
            </a:endParaRPr>
          </a:p>
          <a:p>
            <a:pPr indent="0" lvl="0" marL="0" rtl="0" algn="l">
              <a:spcBef>
                <a:spcPts val="1200"/>
              </a:spcBef>
              <a:spcAft>
                <a:spcPts val="0"/>
              </a:spcAft>
              <a:buNone/>
            </a:pPr>
            <a:r>
              <a:t/>
            </a:r>
            <a:endParaRPr sz="2300">
              <a:highlight>
                <a:srgbClr val="FFFFFF"/>
              </a:highlight>
              <a:latin typeface="Roboto Serif SemiBold"/>
              <a:ea typeface="Roboto Serif SemiBold"/>
              <a:cs typeface="Roboto Serif SemiBold"/>
              <a:sym typeface="Roboto Serif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838200" y="365125"/>
            <a:ext cx="10515600" cy="294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sz="600"/>
          </a:p>
        </p:txBody>
      </p:sp>
      <p:sp>
        <p:nvSpPr>
          <p:cNvPr id="209" name="Google Shape;209;p29"/>
          <p:cNvSpPr txBox="1"/>
          <p:nvPr>
            <p:ph idx="1" type="body"/>
          </p:nvPr>
        </p:nvSpPr>
        <p:spPr>
          <a:xfrm>
            <a:off x="838200" y="555875"/>
            <a:ext cx="10515600" cy="5620800"/>
          </a:xfrm>
          <a:prstGeom prst="rect">
            <a:avLst/>
          </a:prstGeom>
        </p:spPr>
        <p:txBody>
          <a:bodyPr anchorCtr="0" anchor="t" bIns="45700" lIns="91425" spcFirstLastPara="1" rIns="91425" wrap="square" tIns="45700">
            <a:normAutofit/>
          </a:bodyPr>
          <a:lstStyle/>
          <a:p>
            <a:pPr indent="-387350" lvl="0" marL="685800" rtl="0" algn="l">
              <a:lnSpc>
                <a:spcPct val="115000"/>
              </a:lnSpc>
              <a:spcBef>
                <a:spcPts val="0"/>
              </a:spcBef>
              <a:spcAft>
                <a:spcPts val="0"/>
              </a:spcAft>
              <a:buSzPts val="2500"/>
              <a:buFont typeface="Cambria"/>
              <a:buChar char="●"/>
            </a:pPr>
            <a:r>
              <a:rPr lang="en-IN" sz="2500">
                <a:highlight>
                  <a:srgbClr val="FFFF00"/>
                </a:highlight>
                <a:latin typeface="Cambria"/>
                <a:ea typeface="Cambria"/>
                <a:cs typeface="Cambria"/>
                <a:sym typeface="Cambria"/>
              </a:rPr>
              <a:t>Rapid Expansion Phase (2020–2023)</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387350" lvl="0" marL="685800" rtl="0" algn="l">
              <a:lnSpc>
                <a:spcPct val="115000"/>
              </a:lnSpc>
              <a:spcBef>
                <a:spcPts val="0"/>
              </a:spcBef>
              <a:spcAft>
                <a:spcPts val="0"/>
              </a:spcAft>
              <a:buSzPts val="2500"/>
              <a:buFont typeface="Times New Roman"/>
              <a:buChar char="●"/>
            </a:pPr>
            <a:r>
              <a:rPr b="1" lang="en-IN" sz="2500">
                <a:highlight>
                  <a:srgbClr val="FFFFFF"/>
                </a:highlight>
                <a:latin typeface="Cambria"/>
                <a:ea typeface="Cambria"/>
                <a:cs typeface="Cambria"/>
                <a:sym typeface="Cambria"/>
              </a:rPr>
              <a:t>2022:</a:t>
            </a:r>
            <a:r>
              <a:rPr lang="en-IN" sz="2500">
                <a:highlight>
                  <a:srgbClr val="FFFFFF"/>
                </a:highlight>
                <a:latin typeface="Cambria"/>
                <a:ea typeface="Cambria"/>
                <a:cs typeface="Cambria"/>
                <a:sym typeface="Cambria"/>
              </a:rPr>
              <a:t> </a:t>
            </a:r>
            <a:r>
              <a:rPr b="1" lang="en-IN" sz="2500">
                <a:highlight>
                  <a:srgbClr val="FFFFFF"/>
                </a:highlight>
                <a:latin typeface="Cambria"/>
                <a:ea typeface="Cambria"/>
                <a:cs typeface="Cambria"/>
                <a:sym typeface="Cambria"/>
              </a:rPr>
              <a:t>24,919,766 units (≈ 24.92 million)</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387350" lvl="0" marL="685800" rtl="0" algn="l">
              <a:lnSpc>
                <a:spcPct val="115000"/>
              </a:lnSpc>
              <a:spcBef>
                <a:spcPts val="0"/>
              </a:spcBef>
              <a:spcAft>
                <a:spcPts val="0"/>
              </a:spcAft>
              <a:buSzPts val="2500"/>
              <a:buFont typeface="Times New Roman"/>
              <a:buChar char="●"/>
            </a:pPr>
            <a:r>
              <a:rPr b="1" lang="en-IN" sz="2500">
                <a:highlight>
                  <a:srgbClr val="FFFFFF"/>
                </a:highlight>
                <a:latin typeface="Cambria"/>
                <a:ea typeface="Cambria"/>
                <a:cs typeface="Cambria"/>
                <a:sym typeface="Cambria"/>
              </a:rPr>
              <a:t>2023:</a:t>
            </a:r>
            <a:r>
              <a:rPr lang="en-IN" sz="2500">
                <a:highlight>
                  <a:srgbClr val="FFFFFF"/>
                </a:highlight>
                <a:latin typeface="Cambria"/>
                <a:ea typeface="Cambria"/>
                <a:cs typeface="Cambria"/>
                <a:sym typeface="Cambria"/>
              </a:rPr>
              <a:t> </a:t>
            </a:r>
            <a:r>
              <a:rPr b="1" lang="en-IN" sz="2500">
                <a:highlight>
                  <a:srgbClr val="FFFFFF"/>
                </a:highlight>
                <a:latin typeface="Cambria"/>
                <a:ea typeface="Cambria"/>
                <a:cs typeface="Cambria"/>
                <a:sym typeface="Cambria"/>
              </a:rPr>
              <a:t>33,797,418 units (≈ 33.80 million)</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0" lvl="0" marL="0" rtl="0" algn="l">
              <a:lnSpc>
                <a:spcPct val="115000"/>
              </a:lnSpc>
              <a:spcBef>
                <a:spcPts val="1200"/>
              </a:spcBef>
              <a:spcAft>
                <a:spcPts val="0"/>
              </a:spcAft>
              <a:buNone/>
            </a:pPr>
            <a:r>
              <a:rPr lang="en-IN" sz="2400">
                <a:highlight>
                  <a:srgbClr val="FFFFFF"/>
                </a:highlight>
                <a:latin typeface="Arial"/>
                <a:ea typeface="Arial"/>
                <a:cs typeface="Arial"/>
                <a:sym typeface="Arial"/>
              </a:rPr>
              <a:t>EV sales experienced exponential growth between 2020 and 2023, with total sales increasing more than five times compared to 2020. </a:t>
            </a:r>
            <a:endParaRPr sz="24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lang="en-IN" sz="2400">
                <a:highlight>
                  <a:srgbClr val="FFFFFF"/>
                </a:highlight>
                <a:latin typeface="Arial"/>
                <a:ea typeface="Arial"/>
                <a:cs typeface="Arial"/>
                <a:sym typeface="Arial"/>
              </a:rPr>
              <a:t>Although sales dipped slightly compared to 2023, overall EV adoption remains significantly higher than previous years, suggesting temporary market fluctuations rather than a long-term decline. </a:t>
            </a:r>
            <a:endParaRPr sz="2500">
              <a:highlight>
                <a:srgbClr val="FFFFFF"/>
              </a:highlight>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2400"/>
              </a:spcBef>
              <a:spcAft>
                <a:spcPts val="2400"/>
              </a:spcAft>
              <a:buClr>
                <a:schemeClr val="dk1"/>
              </a:buClr>
              <a:buSzPts val="1100"/>
              <a:buFont typeface="Arial"/>
              <a:buNone/>
            </a:pPr>
            <a:r>
              <a:rPr b="1" lang="en-IN" sz="2400">
                <a:latin typeface="Arial"/>
                <a:ea typeface="Arial"/>
                <a:cs typeface="Arial"/>
                <a:sym typeface="Arial"/>
              </a:rPr>
              <a:t>Conclusion</a:t>
            </a:r>
            <a:endParaRPr/>
          </a:p>
        </p:txBody>
      </p:sp>
      <p:sp>
        <p:nvSpPr>
          <p:cNvPr id="216" name="Google Shape;216;p3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t/>
            </a:r>
            <a:endParaRPr b="1" sz="2400">
              <a:latin typeface="Arial"/>
              <a:ea typeface="Arial"/>
              <a:cs typeface="Arial"/>
              <a:sym typeface="Arial"/>
            </a:endParaRPr>
          </a:p>
          <a:p>
            <a:pPr indent="-381000" lvl="0" marL="457200" rtl="0" algn="l">
              <a:lnSpc>
                <a:spcPct val="115000"/>
              </a:lnSpc>
              <a:spcBef>
                <a:spcPts val="2400"/>
              </a:spcBef>
              <a:spcAft>
                <a:spcPts val="0"/>
              </a:spcAft>
              <a:buSzPts val="2400"/>
              <a:buChar char="●"/>
            </a:pPr>
            <a:r>
              <a:rPr lang="en-IN" sz="2400">
                <a:latin typeface="Arial"/>
                <a:ea typeface="Arial"/>
                <a:cs typeface="Arial"/>
                <a:sym typeface="Arial"/>
              </a:rPr>
              <a:t>EV sales have grown significantly over the last decade.</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Rapid acceleration in adoption is visible after 2020.</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Government policies and infrastructure development are key drivers.</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Despite small fluctuations, the long-term trend shows </a:t>
            </a:r>
            <a:r>
              <a:rPr b="1" lang="en-IN" sz="2400">
                <a:latin typeface="Arial"/>
                <a:ea typeface="Arial"/>
                <a:cs typeface="Arial"/>
                <a:sym typeface="Arial"/>
              </a:rPr>
              <a:t>strong growth potential for the EV market</a:t>
            </a:r>
            <a:r>
              <a:rPr lang="en-IN" sz="2400">
                <a:latin typeface="Arial"/>
                <a:ea typeface="Arial"/>
                <a:cs typeface="Arial"/>
                <a:sym typeface="Arial"/>
              </a:rPr>
              <a:t>.</a:t>
            </a:r>
            <a:endParaRPr sz="24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1"/>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22" name="Google Shape;222;p31"/>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